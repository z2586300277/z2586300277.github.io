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43"/>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全球市场规模</c:v>
                </c:pt>
              </c:strCache>
            </c:strRef>
          </c:tx>
          <c:spPr>
            <a:ln w="31750" cap="rnd" cmpd="sng" algn="ctr">
              <a:solidFill>
                <a:srgbClr val="0A1F3D">
                  <a:alpha val="100000"/>
                </a:srgbClr>
              </a:solidFill>
              <a:prstDash val="solid"/>
              <a:round/>
            </a:ln>
          </c:spPr>
          <c:marker>
            <c:symbol val="circle"/>
            <c:size val="6"/>
            <c:spPr>
              <a:solidFill>
                <a:srgbClr val="0A1F3D">
                  <a:alpha val="100000"/>
                </a:srgbClr>
              </a:solidFill>
            </c:spPr>
          </c:marker>
          <c:dPt>
            <c:idx val="0"/>
            <c:marker>
              <c:symbol val="circle"/>
              <c:size val="6"/>
              <c:spPr>
                <a:solidFill>
                  <a:srgbClr val="0A1F3D">
                    <a:alpha val="100000"/>
                  </a:srgbClr>
                </a:solidFill>
              </c:spPr>
            </c:marker>
            <c:bubble3D val="0"/>
            <c:spPr>
              <a:ln w="31750" cap="rnd" cmpd="sng" algn="ctr">
                <a:solidFill>
                  <a:srgbClr val="0A1F3D">
                    <a:alpha val="100000"/>
                  </a:srgbClr>
                </a:solidFill>
                <a:prstDash val="solid"/>
                <a:round/>
              </a:ln>
            </c:spPr>
          </c:dPt>
          <c:dPt>
            <c:idx val="1"/>
            <c:marker>
              <c:symbol val="circle"/>
              <c:size val="6"/>
              <c:spPr>
                <a:solidFill>
                  <a:srgbClr val="0A1F3D">
                    <a:alpha val="100000"/>
                  </a:srgbClr>
                </a:solidFill>
              </c:spPr>
            </c:marker>
            <c:bubble3D val="0"/>
            <c:spPr>
              <a:ln w="31750" cap="rnd" cmpd="sng" algn="ctr">
                <a:solidFill>
                  <a:srgbClr val="0A1F3D">
                    <a:alpha val="100000"/>
                  </a:srgbClr>
                </a:solidFill>
                <a:prstDash val="solid"/>
                <a:round/>
              </a:ln>
            </c:spPr>
          </c:dPt>
          <c:dPt>
            <c:idx val="2"/>
            <c:marker>
              <c:symbol val="circle"/>
              <c:size val="6"/>
              <c:spPr>
                <a:solidFill>
                  <a:srgbClr val="0A1F3D">
                    <a:alpha val="100000"/>
                  </a:srgbClr>
                </a:solidFill>
              </c:spPr>
            </c:marker>
            <c:bubble3D val="0"/>
            <c:spPr>
              <a:ln w="31750" cap="rnd" cmpd="sng" algn="ctr">
                <a:solidFill>
                  <a:srgbClr val="0A1F3D">
                    <a:alpha val="100000"/>
                  </a:srgbClr>
                </a:solidFill>
                <a:prstDash val="solid"/>
                <a:round/>
              </a:ln>
            </c:spPr>
          </c:dPt>
          <c:dPt>
            <c:idx val="3"/>
            <c:marker>
              <c:symbol val="circle"/>
              <c:size val="6"/>
              <c:spPr>
                <a:solidFill>
                  <a:srgbClr val="0A1F3D">
                    <a:alpha val="100000"/>
                  </a:srgbClr>
                </a:solidFill>
              </c:spPr>
            </c:marker>
            <c:bubble3D val="0"/>
            <c:spPr>
              <a:ln w="31750" cap="rnd" cmpd="sng" algn="ctr">
                <a:solidFill>
                  <a:srgbClr val="0A1F3D">
                    <a:alpha val="100000"/>
                  </a:srgbClr>
                </a:solidFill>
                <a:prstDash val="solid"/>
                <a:round/>
              </a:ln>
            </c:spPr>
          </c:dPt>
          <c:dPt>
            <c:idx val="4"/>
            <c:marker>
              <c:symbol val="circle"/>
              <c:size val="6"/>
              <c:spPr>
                <a:solidFill>
                  <a:srgbClr val="0A1F3D">
                    <a:alpha val="100000"/>
                  </a:srgbClr>
                </a:solidFill>
              </c:spPr>
            </c:marker>
            <c:bubble3D val="0"/>
            <c:spPr>
              <a:ln w="31750" cap="rnd" cmpd="sng" algn="ctr">
                <a:solidFill>
                  <a:srgbClr val="0A1F3D">
                    <a:alpha val="100000"/>
                  </a:srgbClr>
                </a:solidFill>
                <a:prstDash val="solid"/>
                <a:round/>
              </a:ln>
            </c:spPr>
          </c:dPt>
          <c:dLbls>
            <c:spPr>
              <a:noFill/>
              <a:ln>
                <a:noFill/>
              </a:ln>
              <a:effectLst/>
            </c:spPr>
            <c:txPr>
              <a:bodyPr rot="0" spcFirstLastPara="0" vertOverflow="ellipsis" vert="horz" wrap="none" lIns="0" tIns="0" rIns="0" bIns="0" anchor="t" anchorCtr="0"/>
              <a:lstStyle/>
              <a:p>
                <a:pPr algn="l">
                  <a:defRPr lang="zh-CN" sz="1200" b="0" i="0" u="none" strike="noStrike" kern="1200" baseline="0">
                    <a:solidFill>
                      <a:srgbClr val="0A1F3D">
                        <a:alpha val="100000"/>
                      </a:srgbClr>
                    </a:solidFill>
                    <a:latin typeface="微软雅黑" panose="020B0503020204020204" charset="-122"/>
                    <a:ea typeface="微软雅黑" panose="020B0503020204020204" charset="-122"/>
                    <a:cs typeface="微软雅黑" panose="020B0503020204020204"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2020</c:v>
                </c:pt>
                <c:pt idx="1">
                  <c:v>2021</c:v>
                </c:pt>
                <c:pt idx="2">
                  <c:v>2022</c:v>
                </c:pt>
                <c:pt idx="3">
                  <c:v>2023</c:v>
                </c:pt>
                <c:pt idx="4">
                  <c:v>2024E</c:v>
                </c:pt>
              </c:strCache>
            </c:strRef>
          </c:cat>
          <c:val>
            <c:numRef>
              <c:f>Sheet1!$B$2:$B$6</c:f>
              <c:numCache>
                <c:formatCode>General</c:formatCode>
                <c:ptCount val="5"/>
                <c:pt idx="0">
                  <c:v>38</c:v>
                </c:pt>
                <c:pt idx="1">
                  <c:v>52</c:v>
                </c:pt>
                <c:pt idx="2">
                  <c:v>73</c:v>
                </c:pt>
                <c:pt idx="3">
                  <c:v>91</c:v>
                </c:pt>
                <c:pt idx="4">
                  <c:v>118</c:v>
                </c:pt>
              </c:numCache>
            </c:numRef>
          </c:val>
          <c:smooth val="0"/>
        </c:ser>
        <c:ser>
          <c:idx val="1"/>
          <c:order val="1"/>
          <c:tx>
            <c:strRef>
              <c:f>Sheet1!$C$1</c:f>
              <c:strCache>
                <c:ptCount val="1"/>
                <c:pt idx="0">
                  <c:v>中国市场规模</c:v>
                </c:pt>
              </c:strCache>
            </c:strRef>
          </c:tx>
          <c:spPr>
            <a:ln w="31750" cap="rnd" cmpd="sng" algn="ctr">
              <a:solidFill>
                <a:srgbClr val="5B8CB8">
                  <a:alpha val="100000"/>
                </a:srgbClr>
              </a:solidFill>
              <a:prstDash val="solid"/>
              <a:round/>
            </a:ln>
          </c:spPr>
          <c:marker>
            <c:symbol val="circle"/>
            <c:size val="6"/>
            <c:spPr>
              <a:solidFill>
                <a:srgbClr val="5B8CB8">
                  <a:alpha val="100000"/>
                </a:srgbClr>
              </a:solidFill>
            </c:spPr>
          </c:marker>
          <c:dPt>
            <c:idx val="0"/>
            <c:marker>
              <c:symbol val="circle"/>
              <c:size val="6"/>
              <c:spPr>
                <a:solidFill>
                  <a:srgbClr val="5B8CB8">
                    <a:alpha val="100000"/>
                  </a:srgbClr>
                </a:solidFill>
              </c:spPr>
            </c:marker>
            <c:bubble3D val="0"/>
            <c:spPr>
              <a:ln w="31750" cap="rnd" cmpd="sng" algn="ctr">
                <a:solidFill>
                  <a:srgbClr val="5B8CB8">
                    <a:alpha val="100000"/>
                  </a:srgbClr>
                </a:solidFill>
                <a:prstDash val="solid"/>
                <a:round/>
              </a:ln>
            </c:spPr>
          </c:dPt>
          <c:dPt>
            <c:idx val="1"/>
            <c:marker>
              <c:symbol val="circle"/>
              <c:size val="6"/>
              <c:spPr>
                <a:solidFill>
                  <a:srgbClr val="5B8CB8">
                    <a:alpha val="100000"/>
                  </a:srgbClr>
                </a:solidFill>
              </c:spPr>
            </c:marker>
            <c:bubble3D val="0"/>
            <c:spPr>
              <a:ln w="31750" cap="rnd" cmpd="sng" algn="ctr">
                <a:solidFill>
                  <a:srgbClr val="5B8CB8">
                    <a:alpha val="100000"/>
                  </a:srgbClr>
                </a:solidFill>
                <a:prstDash val="solid"/>
                <a:round/>
              </a:ln>
            </c:spPr>
          </c:dPt>
          <c:dPt>
            <c:idx val="2"/>
            <c:marker>
              <c:symbol val="circle"/>
              <c:size val="6"/>
              <c:spPr>
                <a:solidFill>
                  <a:srgbClr val="5B8CB8">
                    <a:alpha val="100000"/>
                  </a:srgbClr>
                </a:solidFill>
              </c:spPr>
            </c:marker>
            <c:bubble3D val="0"/>
            <c:spPr>
              <a:ln w="31750" cap="rnd" cmpd="sng" algn="ctr">
                <a:solidFill>
                  <a:srgbClr val="5B8CB8">
                    <a:alpha val="100000"/>
                  </a:srgbClr>
                </a:solidFill>
                <a:prstDash val="solid"/>
                <a:round/>
              </a:ln>
            </c:spPr>
          </c:dPt>
          <c:dPt>
            <c:idx val="3"/>
            <c:marker>
              <c:symbol val="circle"/>
              <c:size val="6"/>
              <c:spPr>
                <a:solidFill>
                  <a:srgbClr val="5B8CB8">
                    <a:alpha val="100000"/>
                  </a:srgbClr>
                </a:solidFill>
              </c:spPr>
            </c:marker>
            <c:bubble3D val="0"/>
            <c:spPr>
              <a:ln w="31750" cap="rnd" cmpd="sng" algn="ctr">
                <a:solidFill>
                  <a:srgbClr val="5B8CB8">
                    <a:alpha val="100000"/>
                  </a:srgbClr>
                </a:solidFill>
                <a:prstDash val="solid"/>
                <a:round/>
              </a:ln>
            </c:spPr>
          </c:dPt>
          <c:dPt>
            <c:idx val="4"/>
            <c:marker>
              <c:symbol val="circle"/>
              <c:size val="6"/>
              <c:spPr>
                <a:solidFill>
                  <a:srgbClr val="5B8CB8">
                    <a:alpha val="100000"/>
                  </a:srgbClr>
                </a:solidFill>
              </c:spPr>
            </c:marker>
            <c:bubble3D val="0"/>
            <c:spPr>
              <a:ln w="31750" cap="rnd" cmpd="sng" algn="ctr">
                <a:solidFill>
                  <a:srgbClr val="5B8CB8">
                    <a:alpha val="100000"/>
                  </a:srgbClr>
                </a:solidFill>
                <a:prstDash val="solid"/>
                <a:round/>
              </a:ln>
            </c:spPr>
          </c:dPt>
          <c:dLbls>
            <c:spPr>
              <a:noFill/>
              <a:ln>
                <a:noFill/>
              </a:ln>
              <a:effectLst/>
            </c:spPr>
            <c:txPr>
              <a:bodyPr rot="0" spcFirstLastPara="0" vertOverflow="ellipsis" vert="horz" wrap="none" lIns="0" tIns="0" rIns="0" bIns="0" anchor="t" anchorCtr="0"/>
              <a:lstStyle/>
              <a:p>
                <a:pPr algn="l">
                  <a:defRPr lang="zh-CN" sz="1200" b="0" i="0" u="none" strike="noStrike" kern="1200" baseline="0">
                    <a:solidFill>
                      <a:srgbClr val="5B8CB8">
                        <a:alpha val="100000"/>
                      </a:srgbClr>
                    </a:solidFill>
                    <a:latin typeface="微软雅黑" panose="020B0503020204020204" charset="-122"/>
                    <a:ea typeface="微软雅黑" panose="020B0503020204020204" charset="-122"/>
                    <a:cs typeface="微软雅黑" panose="020B0503020204020204"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2020</c:v>
                </c:pt>
                <c:pt idx="1">
                  <c:v>2021</c:v>
                </c:pt>
                <c:pt idx="2">
                  <c:v>2022</c:v>
                </c:pt>
                <c:pt idx="3">
                  <c:v>2023</c:v>
                </c:pt>
                <c:pt idx="4">
                  <c:v>2024E</c:v>
                </c:pt>
              </c:strCache>
            </c:strRef>
          </c:cat>
          <c:val>
            <c:numRef>
              <c:f>Sheet1!$C$2:$C$6</c:f>
              <c:numCache>
                <c:formatCode>General</c:formatCode>
                <c:ptCount val="5"/>
                <c:pt idx="0">
                  <c:v>12</c:v>
                </c:pt>
                <c:pt idx="1">
                  <c:v>18</c:v>
                </c:pt>
                <c:pt idx="2">
                  <c:v>28</c:v>
                </c:pt>
                <c:pt idx="3">
                  <c:v>38</c:v>
                </c:pt>
                <c:pt idx="4">
                  <c:v>52</c:v>
                </c:pt>
              </c:numCache>
            </c:numRef>
          </c:val>
          <c:smooth val="0"/>
        </c:ser>
        <c:dLbls>
          <c:showLegendKey val="0"/>
          <c:showVal val="1"/>
          <c:showCatName val="0"/>
          <c:showSerName val="0"/>
          <c:showPercent val="0"/>
          <c:showBubbleSize val="0"/>
        </c:dLbls>
        <c:marker val="1"/>
        <c:smooth val="0"/>
        <c:axId val="1"/>
        <c:axId val="1001"/>
      </c:lineChart>
      <c:catAx>
        <c:axId val="1"/>
        <c:scaling>
          <c:orientation val="minMax"/>
        </c:scaling>
        <c:delete val="0"/>
        <c:axPos val="b"/>
        <c:majorTickMark val="none"/>
        <c:minorTickMark val="none"/>
        <c:tickLblPos val="nextTo"/>
        <c:spPr>
          <a:ln w="12700" cap="flat" cmpd="sng" algn="ctr">
            <a:solidFill>
              <a:srgbClr val="A6A6A6">
                <a:alpha val="100000"/>
              </a:srgbClr>
            </a:solidFill>
            <a:prstDash val="solid"/>
            <a:round/>
          </a:ln>
        </c:spPr>
        <c:txPr>
          <a:bodyPr rot="0" spcFirstLastPara="0" vertOverflow="ellipsis" vert="horz" wrap="none" lIns="0" tIns="0" rIns="0" bIns="0" anchor="t" anchorCtr="0"/>
          <a:lstStyle/>
          <a:p>
            <a:pPr algn="l">
              <a:defRPr lang="zh-CN" sz="800" b="0" i="0" u="none" strike="noStrike" kern="1200" baseline="0">
                <a:solidFill>
                  <a:srgbClr val="0A1F3D">
                    <a:alpha val="100000"/>
                  </a:srgbClr>
                </a:solidFill>
                <a:latin typeface="Inter, sans-serif"/>
                <a:ea typeface="Inter, sans-serif"/>
                <a:cs typeface="Inter, sans-serif"/>
              </a:defRPr>
            </a:pPr>
          </a:p>
        </c:txPr>
        <c:crossAx val="1001"/>
        <c:crosses val="autoZero"/>
        <c:auto val="1"/>
        <c:lblAlgn val="ctr"/>
        <c:lblOffset val="100"/>
        <c:noMultiLvlLbl val="0"/>
      </c:catAx>
      <c:valAx>
        <c:axId val="1001"/>
        <c:scaling>
          <c:orientation val="minMax"/>
        </c:scaling>
        <c:delete val="0"/>
        <c:axPos val="l"/>
        <c:majorGridlines>
          <c:spPr>
            <a:ln w="12700" cap="flat" cmpd="sng" algn="ctr">
              <a:solidFill>
                <a:srgbClr val="E8EBEF">
                  <a:alpha val="100000"/>
                </a:srgbClr>
              </a:solidFill>
              <a:prstDash val="solid"/>
              <a:round/>
            </a:ln>
          </c:spPr>
        </c:majorGridlines>
        <c:numFmt formatCode="General" sourceLinked="1"/>
        <c:majorTickMark val="none"/>
        <c:minorTickMark val="none"/>
        <c:tickLblPos val="nextTo"/>
        <c:txPr>
          <a:bodyPr rot="0" spcFirstLastPara="0" vertOverflow="ellipsis" vert="horz" wrap="none" lIns="0" tIns="0" rIns="0" bIns="0" anchor="t" anchorCtr="0"/>
          <a:lstStyle/>
          <a:p>
            <a:pPr algn="l">
              <a:defRPr lang="zh-CN" sz="800" b="0" i="0" u="none" strike="noStrike" kern="1200" baseline="0">
                <a:solidFill>
                  <a:srgbClr val="0A1F3D">
                    <a:alpha val="100000"/>
                  </a:srgbClr>
                </a:solidFill>
                <a:latin typeface="Inter, sans-serif"/>
                <a:ea typeface="Inter, sans-serif"/>
                <a:cs typeface="Inter, sans-serif"/>
              </a:defRPr>
            </a:pPr>
          </a:p>
        </c:txPr>
        <c:crossAx val="1"/>
        <c:crosses val="autoZero"/>
        <c:crossBetween val="between"/>
      </c:valAx>
    </c:plotArea>
    <c:legend>
      <c:legendPos val="b"/>
      <c:layout/>
      <c:overlay val="0"/>
      <c:txPr>
        <a:bodyPr rot="0" spcFirstLastPara="0" vertOverflow="ellipsis" vert="horz" wrap="none" lIns="0" tIns="0" rIns="0" bIns="0" anchor="t" anchorCtr="0"/>
        <a:lstStyle/>
        <a:p>
          <a:pPr algn="l">
            <a:defRPr lang="zh-CN" sz="800" b="0" i="0" u="none" strike="noStrike" kern="1200" baseline="0">
              <a:solidFill>
                <a:srgbClr val="0A1F3D">
                  <a:alpha val="100000"/>
                </a:srgbClr>
              </a:solidFill>
              <a:latin typeface="微软雅黑" panose="020B0503020204020204" charset="-122"/>
              <a:ea typeface="微软雅黑" panose="020B0503020204020204" charset="-122"/>
              <a:cs typeface="微软雅黑" panose="020B0503020204020204" charset="-122"/>
            </a:defRPr>
          </a:pPr>
        </a:p>
      </c:txPr>
    </c:legend>
    <c:plotVisOnly val="1"/>
    <c:dispBlanksAs val="gap"/>
    <c:showDLblsOverMax val="0"/>
    <c:extLst>
      <c:ext uri="{0b15fc19-7d7d-44ad-8c2d-2c3a37ce22c3}">
        <chartProps xmlns="https://web.wps.cn/et/2018/main" chartId="{b1aa6441-99c4-4714-b728-6c13f6c04472}"/>
      </c:ext>
    </c:extLst>
  </c:chart>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大厂方案</c:v>
                </c:pt>
              </c:strCache>
            </c:strRef>
          </c:tx>
          <c:spPr>
            <a:solidFill>
              <a:srgbClr val="C5CDD6">
                <a:alpha val="100000"/>
              </a:srgbClr>
            </a:solidFill>
          </c:spPr>
          <c:invertIfNegative val="0"/>
          <c:dPt>
            <c:idx val="0"/>
            <c:invertIfNegative val="0"/>
            <c:bubble3D val="0"/>
            <c:spPr>
              <a:solidFill>
                <a:srgbClr val="C5CDD6">
                  <a:alpha val="100000"/>
                </a:srgbClr>
              </a:solidFill>
            </c:spPr>
          </c:dPt>
          <c:dPt>
            <c:idx val="1"/>
            <c:invertIfNegative val="0"/>
            <c:bubble3D val="0"/>
            <c:spPr>
              <a:solidFill>
                <a:srgbClr val="C5CDD6">
                  <a:alpha val="100000"/>
                </a:srgbClr>
              </a:solidFill>
            </c:spPr>
          </c:dPt>
          <c:dPt>
            <c:idx val="2"/>
            <c:invertIfNegative val="0"/>
            <c:bubble3D val="0"/>
            <c:spPr>
              <a:solidFill>
                <a:srgbClr val="C5CDD6">
                  <a:alpha val="100000"/>
                </a:srgbClr>
              </a:solidFill>
            </c:spPr>
          </c:dPt>
          <c:dPt>
            <c:idx val="3"/>
            <c:invertIfNegative val="0"/>
            <c:bubble3D val="0"/>
            <c:spPr>
              <a:solidFill>
                <a:srgbClr val="C5CDD6">
                  <a:alpha val="100000"/>
                </a:srgbClr>
              </a:solidFill>
            </c:spPr>
          </c:dPt>
          <c:dPt>
            <c:idx val="4"/>
            <c:invertIfNegative val="0"/>
            <c:bubble3D val="0"/>
            <c:spPr>
              <a:solidFill>
                <a:srgbClr val="C5CDD6">
                  <a:alpha val="100000"/>
                </a:srgbClr>
              </a:solidFill>
            </c:spPr>
          </c:dPt>
          <c:dLbls>
            <c:spPr>
              <a:noFill/>
              <a:ln>
                <a:noFill/>
              </a:ln>
              <a:effectLst/>
            </c:spPr>
            <c:txPr>
              <a:bodyPr rot="0" spcFirstLastPara="0" vertOverflow="ellipsis" vert="horz" wrap="none" lIns="0" tIns="0" rIns="0" bIns="0" anchor="t" anchorCtr="0"/>
              <a:lstStyle/>
              <a:p>
                <a:pPr algn="l">
                  <a:defRPr lang="zh-CN" sz="700" b="0" i="0" u="none" strike="noStrike" kern="1200" baseline="0">
                    <a:solidFill>
                      <a:srgbClr val="C5CDD6">
                        <a:alpha val="100000"/>
                      </a:srgbClr>
                    </a:solidFill>
                    <a:latin typeface="Inter, sans-serif"/>
                    <a:ea typeface="Inter, sans-serif"/>
                    <a:cs typeface="Inter, sans-serif"/>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灵活性</c:v>
                </c:pt>
                <c:pt idx="1">
                  <c:v>响应速度</c:v>
                </c:pt>
                <c:pt idx="2">
                  <c:v>成本可控性</c:v>
                </c:pt>
                <c:pt idx="3">
                  <c:v>定制深度</c:v>
                </c:pt>
                <c:pt idx="4">
                  <c:v>维护便捷性</c:v>
                </c:pt>
              </c:strCache>
            </c:strRef>
          </c:cat>
          <c:val>
            <c:numRef>
              <c:f>Sheet1!$B$2:$B$6</c:f>
              <c:numCache>
                <c:formatCode>General</c:formatCode>
                <c:ptCount val="5"/>
                <c:pt idx="0">
                  <c:v>60</c:v>
                </c:pt>
                <c:pt idx="1">
                  <c:v>55</c:v>
                </c:pt>
                <c:pt idx="2">
                  <c:v>45</c:v>
                </c:pt>
                <c:pt idx="3">
                  <c:v>65</c:v>
                </c:pt>
                <c:pt idx="4">
                  <c:v>70</c:v>
                </c:pt>
              </c:numCache>
            </c:numRef>
          </c:val>
        </c:ser>
        <c:ser>
          <c:idx val="1"/>
          <c:order val="1"/>
          <c:tx>
            <c:strRef>
              <c:f>Sheet1!$C$1</c:f>
              <c:strCache>
                <c:ptCount val="1"/>
                <c:pt idx="0">
                  <c:v>我们的方案</c:v>
                </c:pt>
              </c:strCache>
            </c:strRef>
          </c:tx>
          <c:spPr>
            <a:solidFill>
              <a:srgbClr val="5B8CB8">
                <a:alpha val="100000"/>
              </a:srgbClr>
            </a:solidFill>
          </c:spPr>
          <c:invertIfNegative val="0"/>
          <c:dPt>
            <c:idx val="0"/>
            <c:invertIfNegative val="0"/>
            <c:bubble3D val="0"/>
            <c:spPr>
              <a:solidFill>
                <a:srgbClr val="5B8CB8">
                  <a:alpha val="100000"/>
                </a:srgbClr>
              </a:solidFill>
            </c:spPr>
          </c:dPt>
          <c:dPt>
            <c:idx val="1"/>
            <c:invertIfNegative val="0"/>
            <c:bubble3D val="0"/>
            <c:spPr>
              <a:solidFill>
                <a:srgbClr val="5B8CB8">
                  <a:alpha val="100000"/>
                </a:srgbClr>
              </a:solidFill>
            </c:spPr>
          </c:dPt>
          <c:dPt>
            <c:idx val="2"/>
            <c:invertIfNegative val="0"/>
            <c:bubble3D val="0"/>
            <c:spPr>
              <a:solidFill>
                <a:srgbClr val="5B8CB8">
                  <a:alpha val="100000"/>
                </a:srgbClr>
              </a:solidFill>
            </c:spPr>
          </c:dPt>
          <c:dPt>
            <c:idx val="3"/>
            <c:invertIfNegative val="0"/>
            <c:bubble3D val="0"/>
            <c:spPr>
              <a:solidFill>
                <a:srgbClr val="5B8CB8">
                  <a:alpha val="100000"/>
                </a:srgbClr>
              </a:solidFill>
            </c:spPr>
          </c:dPt>
          <c:dPt>
            <c:idx val="4"/>
            <c:invertIfNegative val="0"/>
            <c:bubble3D val="0"/>
            <c:spPr>
              <a:solidFill>
                <a:srgbClr val="5B8CB8">
                  <a:alpha val="100000"/>
                </a:srgbClr>
              </a:solidFill>
            </c:spPr>
          </c:dPt>
          <c:dLbls>
            <c:spPr>
              <a:noFill/>
              <a:ln>
                <a:noFill/>
              </a:ln>
              <a:effectLst/>
            </c:spPr>
            <c:txPr>
              <a:bodyPr rot="0" spcFirstLastPara="0" vertOverflow="ellipsis" vert="horz" wrap="none" lIns="0" tIns="0" rIns="0" bIns="0" anchor="t" anchorCtr="0"/>
              <a:lstStyle/>
              <a:p>
                <a:pPr algn="l">
                  <a:defRPr lang="zh-CN" sz="700" b="0" i="0" u="none" strike="noStrike" kern="1200" baseline="0">
                    <a:solidFill>
                      <a:srgbClr val="5B8CB8">
                        <a:alpha val="100000"/>
                      </a:srgbClr>
                    </a:solidFill>
                    <a:latin typeface="Inter, sans-serif"/>
                    <a:ea typeface="Inter, sans-serif"/>
                    <a:cs typeface="Inter, sans-serif"/>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灵活性</c:v>
                </c:pt>
                <c:pt idx="1">
                  <c:v>响应速度</c:v>
                </c:pt>
                <c:pt idx="2">
                  <c:v>成本可控性</c:v>
                </c:pt>
                <c:pt idx="3">
                  <c:v>定制深度</c:v>
                </c:pt>
                <c:pt idx="4">
                  <c:v>维护便捷性</c:v>
                </c:pt>
              </c:strCache>
            </c:strRef>
          </c:cat>
          <c:val>
            <c:numRef>
              <c:f>Sheet1!$C$2:$C$6</c:f>
              <c:numCache>
                <c:formatCode>General</c:formatCode>
                <c:ptCount val="5"/>
                <c:pt idx="0">
                  <c:v>95</c:v>
                </c:pt>
                <c:pt idx="1">
                  <c:v>90</c:v>
                </c:pt>
                <c:pt idx="2">
                  <c:v>85</c:v>
                </c:pt>
                <c:pt idx="3">
                  <c:v>90</c:v>
                </c:pt>
                <c:pt idx="4">
                  <c:v>88</c:v>
                </c:pt>
              </c:numCache>
            </c:numRef>
          </c:val>
        </c:ser>
        <c:dLbls>
          <c:showLegendKey val="0"/>
          <c:showVal val="1"/>
          <c:showCatName val="0"/>
          <c:showSerName val="0"/>
          <c:showPercent val="0"/>
          <c:showBubbleSize val="0"/>
        </c:dLbls>
        <c:gapWidth val="40"/>
        <c:overlap val="-10"/>
        <c:axId val="1"/>
        <c:axId val="1001"/>
      </c:barChart>
      <c:catAx>
        <c:axId val="1"/>
        <c:scaling>
          <c:orientation val="minMax"/>
        </c:scaling>
        <c:delete val="0"/>
        <c:axPos val="b"/>
        <c:majorTickMark val="none"/>
        <c:minorTickMark val="none"/>
        <c:tickLblPos val="nextTo"/>
        <c:spPr>
          <a:ln w="12700" cap="flat" cmpd="sng" algn="ctr">
            <a:solidFill>
              <a:srgbClr val="A6A6A6">
                <a:alpha val="100000"/>
              </a:srgbClr>
            </a:solidFill>
            <a:prstDash val="solid"/>
            <a:round/>
          </a:ln>
        </c:spPr>
        <c:txPr>
          <a:bodyPr rot="0" spcFirstLastPara="0" vertOverflow="ellipsis" vert="horz" wrap="none" lIns="0" tIns="0" rIns="0" bIns="0" anchor="t" anchorCtr="0"/>
          <a:lstStyle/>
          <a:p>
            <a:pPr algn="l">
              <a:defRPr lang="zh-CN" sz="800" b="0" i="0" u="none" strike="noStrike" kern="1200" baseline="0">
                <a:solidFill>
                  <a:srgbClr val="0A1F3D">
                    <a:alpha val="100000"/>
                  </a:srgbClr>
                </a:solidFill>
                <a:latin typeface="FZYaYiHei GB18030L2 R, sans-serif"/>
                <a:ea typeface="FZYaYiHei GB18030L2 R, sans-serif"/>
                <a:cs typeface="FZYaYiHei GB18030L2 R, sans-serif"/>
              </a:defRPr>
            </a:pPr>
          </a:p>
        </c:txPr>
        <c:crossAx val="1001"/>
        <c:crosses val="autoZero"/>
        <c:auto val="1"/>
        <c:lblAlgn val="ctr"/>
        <c:lblOffset val="100"/>
        <c:noMultiLvlLbl val="0"/>
      </c:catAx>
      <c:valAx>
        <c:axId val="1001"/>
        <c:scaling>
          <c:orientation val="minMax"/>
          <c:max val="100"/>
        </c:scaling>
        <c:delete val="0"/>
        <c:axPos val="l"/>
        <c:majorGridlines>
          <c:spPr>
            <a:ln w="12700" cap="flat" cmpd="sng" algn="ctr">
              <a:solidFill>
                <a:srgbClr val="D0D5DB">
                  <a:alpha val="100000"/>
                </a:srgbClr>
              </a:solidFill>
              <a:prstDash val="solid"/>
              <a:round/>
            </a:ln>
          </c:spPr>
        </c:majorGridlines>
        <c:numFmt formatCode="General" sourceLinked="1"/>
        <c:majorTickMark val="none"/>
        <c:minorTickMark val="none"/>
        <c:tickLblPos val="nextTo"/>
        <c:txPr>
          <a:bodyPr rot="0" spcFirstLastPara="0" vertOverflow="ellipsis" vert="horz" wrap="none" lIns="0" tIns="0" rIns="0" bIns="0" anchor="t" anchorCtr="0"/>
          <a:lstStyle/>
          <a:p>
            <a:pPr algn="l">
              <a:defRPr lang="zh-CN" sz="800" b="0" i="0" u="none" strike="noStrike" kern="1200" baseline="0">
                <a:solidFill>
                  <a:srgbClr val="0A1F3D">
                    <a:alpha val="100000"/>
                  </a:srgbClr>
                </a:solidFill>
                <a:latin typeface="FZYaYiHei GB18030L2 R, sans-serif"/>
                <a:ea typeface="FZYaYiHei GB18030L2 R, sans-serif"/>
                <a:cs typeface="FZYaYiHei GB18030L2 R, sans-serif"/>
              </a:defRPr>
            </a:pPr>
          </a:p>
        </c:txPr>
        <c:crossAx val="1"/>
        <c:crosses val="autoZero"/>
        <c:crossBetween val="between"/>
      </c:valAx>
    </c:plotArea>
    <c:legend>
      <c:legendPos val="b"/>
      <c:layout/>
      <c:overlay val="0"/>
      <c:txPr>
        <a:bodyPr rot="0" spcFirstLastPara="0" vertOverflow="ellipsis" vert="horz" wrap="none" lIns="0" tIns="0" rIns="0" bIns="0" anchor="t" anchorCtr="0"/>
        <a:lstStyle/>
        <a:p>
          <a:pPr algn="l">
            <a:defRPr lang="zh-CN" sz="800" b="0" i="0" u="none" strike="noStrike" kern="1200" baseline="0">
              <a:solidFill>
                <a:srgbClr val="0A1F3D">
                  <a:alpha val="100000"/>
                </a:srgbClr>
              </a:solidFill>
              <a:latin typeface="微软雅黑" panose="020B0503020204020204" charset="-122"/>
              <a:ea typeface="微软雅黑" panose="020B0503020204020204" charset="-122"/>
              <a:cs typeface="微软雅黑" panose="020B0503020204020204" charset="-122"/>
            </a:defRPr>
          </a:pPr>
        </a:p>
      </c:txPr>
    </c:legend>
    <c:plotVisOnly val="1"/>
    <c:dispBlanksAs val="gap"/>
    <c:showDLblsOverMax val="0"/>
    <c:extLst>
      <c:ext uri="{0b15fc19-7d7d-44ad-8c2d-2c3a37ce22c3}">
        <chartProps xmlns="https://web.wps.cn/et/2018/main" chartId="{66f66f0c-97ed-4e5b-be27-cd1161dcf65e}"/>
      </c:ext>
    </c:extLst>
  </c:chart>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投资人、合作伙伴大家好，欢迎来到北京优悦幻光科技有限公司的分享。今天我将为大家介绍我们在数字孪生Web三维可视化领域的解决方案。我们不是一家只做三维展示的团队，而是拥有国内首款开源AI三维可视化数字孪生编辑器的技术型公司，致力于让数字孪生从一次性展示真正升级为可长期运营的系统。</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先来看行业背景。数字孪生正在经历一场根本性的范式转移——从过去的一次性展示项目，升级为可长期运营的系统。过去客户做数字孪生主要是为了汇报验收，现在则更关心能否接入真实数据、实现告警联动、支撑日常运营。大家看这张对比图，左侧代表传统的展示型项目，特点是重前端效果、轻数据联动、一次性交付；右侧代表运营型系统，强调真实数据接入、业务逻辑联动和长期可维护性。与此同时，市场规模正在高速增长，预计2024年全球数字孪生市场规模将突破百亿美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针对行业痛点，我们提供全链路的数字孪生解决方案。首先看全场景系统开发能力，我们覆盖园区、工厂、能源、水务、展厅、指挥中心及城市治理等多元场景，支持PC端、大屏、浏览器端多终端部署。其次是真实项目落地能力，这不仅仅是做三维场景搭建和Web 3D可视化开发，更重要的是实现真实数据接入、告警联动与业务逻辑呈现，确保系统从交付到长期运营的可维护性。最后是灵活的合作模式，我们可以为系统集成商提供三维可视化专项分包，为项目总包方提供数字孪生技术支持与联合投标，提供定制开发与持续迭代服务。</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接下来进入我们最重要的差异化优势——开源技术资产。团队长期深耕Web3D开源生态，在GitHub Web3D相关领域具备较强的公开影响力。我们拥有两大核心开源资产：首先是three-cesium-examples开源案例库，覆盖Three.js、Cesium.js与Web 3D方向，体现团队在场景案例与内容组织上的持续积累；更重要的是three-editor，这是国内首款开源的、结合AI能力方向的三维可视化数字孪生编辑器，已在复杂业务场景中得到实际验证，具备开源、高效、易用、高扩展、低成本和快速搭建项目的特点。这种开源策略构建了独特的信任机制，客户无需依赖单次汇报材料即可直接验证我们的技术深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的技术能力覆盖从底层渲染到应用层的全链路。大家看这张技术栈层级图，底层是WebGL/WebGPU原生渲染能力，中间层基于Three.js和Cesium.js三维引擎，上层是数字孪生可视化与场景搭建能力。这种全栈能力让我们能够深度定制，不受标准化产品限制。更重要的是，相比大厂方案，我们具备显著优势：方案更灵活，可根据客户需求深度定制业务逻辑；响应更快，决策链条短，项目启动快；成本更可控，整体投入显著低于大厂，更适合中型项目和专项合作。</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基于长期的开源深耕与项目实践，我们已经形成了难以复制的技术壁垒。首先是公开可验证的技术成果与持续沉淀的开源影响力，我们在GitHub Web3D领域具备较强的技术资源连接能力，这不是短期内可以积累的。其次是自研编辑器能力与场景模板复用体系，three-editor是国内首款开源AI三维编辑器，结合场景模板复用，显著提升了复杂项目的搭建效率与二次开发效率。最后是项目经验沉淀下来的交付方法论，从需求分析到部署运维形成标准化流程。这三者共同构成了从工具到流程的完整护城河。</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最后，用一句话总结我们的核心定位：我们不是单纯做三维展示的团队，我们是能把数字孪生真正做成项目、做成系统、做成长期能力的团队。我们的核心竞争力涵盖技术深度、项目落地能力、交付效率、持续迭代能力、可验证案例资产与自研工具六大维度。期待与各位合作，共同推动数字孪生从展示走向运营。谢谢大家！</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3" name="AutoShape 3"/>
          <p:cNvSpPr/>
          <p:nvPr/>
        </p:nvSpPr>
        <p:spPr>
          <a:xfrm>
            <a:off x="0" y="0"/>
            <a:ext cx="12188952" cy="6858000"/>
          </a:xfrm>
          <a:prstGeom prst="rect">
            <a:avLst/>
          </a:prstGeom>
          <a:solidFill>
            <a:srgbClr val="0A0A0B">
              <a:alpha val="60000"/>
            </a:srgbClr>
          </a:solidFill>
          <a:ln>
            <a:headEnd type="none"/>
            <a:tailEnd type="none"/>
          </a:ln>
        </p:spPr>
      </p:sp>
      <p:sp>
        <p:nvSpPr>
          <p:cNvPr id="4" name="TextBox 4"/>
          <p:cNvSpPr txBox="1"/>
          <p:nvPr/>
        </p:nvSpPr>
        <p:spPr>
          <a:xfrm>
            <a:off x="1186980" y="1883569"/>
            <a:ext cx="9814993" cy="1577280"/>
          </a:xfrm>
          <a:prstGeom prst="rect">
            <a:avLst/>
          </a:prstGeom>
          <a:ln>
            <a:headEnd type="none"/>
            <a:tailEnd type="none"/>
          </a:ln>
        </p:spPr>
        <p:txBody>
          <a:bodyPr vert="horz" wrap="square" lIns="0" tIns="0" rIns="0" bIns="0" rtlCol="0" anchor="t" anchorCtr="1"/>
          <a:lstStyle/>
          <a:p>
            <a:pPr algn="ctr">
              <a:defRPr/>
            </a:pPr>
            <a:r>
              <a:rPr lang="en-US" sz="5400" b="1" i="0" strike="noStrike">
                <a:solidFill>
                  <a:srgbClr val="F1F3F5">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数字孪生Web三维可视化</a:t>
            </a:r>
            <a:endParaRPr lang="en-US" sz="1100"/>
          </a:p>
          <a:p>
            <a:pPr algn="ctr"/>
            <a:r>
              <a:rPr sz="5400" b="1" i="0" strike="noStrike">
                <a:solidFill>
                  <a:srgbClr val="F1F3F5">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解决方案</a:t>
            </a:r>
            <a:endParaRPr sz="5400" b="1" i="0" strike="noStrike">
              <a:solidFill>
                <a:srgbClr val="F1F3F5">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5" name="TextBox 5"/>
          <p:cNvSpPr txBox="1"/>
          <p:nvPr/>
        </p:nvSpPr>
        <p:spPr>
          <a:xfrm>
            <a:off x="3130932" y="3689449"/>
            <a:ext cx="5927086" cy="365671"/>
          </a:xfrm>
          <a:prstGeom prst="rect">
            <a:avLst/>
          </a:prstGeom>
          <a:ln>
            <a:headEnd type="none"/>
            <a:tailEnd type="none"/>
          </a:ln>
        </p:spPr>
        <p:txBody>
          <a:bodyPr vert="horz" wrap="square" lIns="0" tIns="0" rIns="0" bIns="0" rtlCol="0" anchor="t" anchorCtr="1"/>
          <a:lstStyle/>
          <a:p>
            <a:pPr algn="ctr">
              <a:defRPr/>
            </a:pPr>
            <a:r>
              <a:rPr lang="en-US" sz="1800" b="0" i="0" strike="noStrike">
                <a:solidFill>
                  <a:srgbClr val="F1F3F5">
                    <a:alpha val="90196"/>
                  </a:srgbClr>
                </a:solidFill>
                <a:latin typeface="FZYaYiHei GB18030L2 R" panose="02000500000000000000" charset="-122"/>
                <a:ea typeface="FZYaYiHei GB18030L2 R" panose="02000500000000000000" charset="-122"/>
                <a:cs typeface="FZYaYiHei GB18030L2 R" panose="02000500000000000000" charset="-122"/>
              </a:rPr>
              <a:t>从展示到运营 · 让三维数据真正服务于管理</a:t>
            </a:r>
            <a:endParaRPr lang="en-US" sz="1100"/>
          </a:p>
        </p:txBody>
      </p:sp>
      <p:sp>
        <p:nvSpPr>
          <p:cNvPr id="6" name="TextBox 6"/>
          <p:cNvSpPr txBox="1"/>
          <p:nvPr/>
        </p:nvSpPr>
        <p:spPr>
          <a:xfrm>
            <a:off x="3519352" y="4512320"/>
            <a:ext cx="5150249" cy="200025"/>
          </a:xfrm>
          <a:prstGeom prst="rect">
            <a:avLst/>
          </a:prstGeom>
          <a:ln>
            <a:headEnd type="none"/>
            <a:tailEnd type="none"/>
          </a:ln>
        </p:spPr>
        <p:txBody>
          <a:bodyPr vert="horz" wrap="square" lIns="0" tIns="0" rIns="0" bIns="0" rtlCol="0" anchor="t" anchorCtr="1"/>
          <a:lstStyle/>
          <a:p>
            <a:pPr algn="ctr">
              <a:defRPr/>
            </a:pPr>
            <a:r>
              <a:rPr lang="en-US" sz="1000" b="0" i="0" strike="noStrike">
                <a:solidFill>
                  <a:srgbClr val="F1F3F5">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北京优悦幻光科技有限公司 · www.ciyuan3d.com</a:t>
            </a:r>
            <a:endParaRPr lang="en-US" sz="1100"/>
          </a:p>
        </p:txBody>
      </p:sp>
      <p:sp>
        <p:nvSpPr>
          <p:cNvPr id="7" name="TextBox 7"/>
          <p:cNvSpPr txBox="1"/>
          <p:nvPr/>
        </p:nvSpPr>
        <p:spPr>
          <a:xfrm>
            <a:off x="3647832" y="4788545"/>
            <a:ext cx="4893287" cy="185738"/>
          </a:xfrm>
          <a:prstGeom prst="rect">
            <a:avLst/>
          </a:prstGeom>
          <a:ln>
            <a:headEnd type="none"/>
            <a:tailEnd type="none"/>
          </a:ln>
        </p:spPr>
        <p:txBody>
          <a:bodyPr vert="horz" wrap="square" lIns="0" tIns="0" rIns="0" bIns="0" rtlCol="0" anchor="t" anchorCtr="1"/>
          <a:lstStyle/>
          <a:p>
            <a:pPr algn="ctr">
              <a:defRPr/>
            </a:pPr>
            <a:r>
              <a:rPr lang="en-US" sz="900" b="0" i="0" strike="noStrike">
                <a:solidFill>
                  <a:srgbClr val="F1F3F5">
                    <a:alpha val="70196"/>
                  </a:srgbClr>
                </a:solidFill>
                <a:latin typeface="FZYaYiHei GB18030L2 R" panose="02000500000000000000" charset="-122"/>
                <a:ea typeface="FZYaYiHei GB18030L2 R" panose="02000500000000000000" charset="-122"/>
                <a:cs typeface="FZYaYiHei GB18030L2 R" panose="02000500000000000000" charset="-122"/>
              </a:rPr>
              <a:t>国内首款开源AI三维可视化数字孪生编辑器</a:t>
            </a:r>
            <a:endParaRPr lang="en-US" sz="1100"/>
          </a:p>
        </p:txBody>
      </p:sp>
      <p:pic>
        <p:nvPicPr>
          <p:cNvPr id="99999" name="WatermarkAigc"/>
          <p:cNvPicPr>
            <a:picLocks noChangeAspect="1"/>
          </p:cNvPicPr>
          <p:nvPr/>
        </p:nvPicPr>
        <p:blipFill>
          <a:blip r:embed="rId2"/>
          <a:stretch>
            <a:fillRect/>
          </a:stretch>
        </p:blipFill>
        <p:spPr>
          <a:xfrm>
            <a:off x="10807700" y="6413500"/>
            <a:ext cx="11938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Alibaba PuHuiTi 3.0 55 Regular" panose="00020600040101010101" charset="-122"/>
                <a:ea typeface="Alibaba PuHuiTi 3.0 55 Regular" panose="00020600040101010101" charset="-122"/>
                <a:cs typeface="Alibaba PuHuiTi 3.0 55 Regular" panose="00020600040101010101" charset="-122"/>
              </a:rPr>
              <a:t>INDUSTRY BACKGROUND</a:t>
            </a:r>
            <a:endParaRPr lang="en-US" sz="1100"/>
          </a:p>
        </p:txBody>
      </p:sp>
      <p:sp>
        <p:nvSpPr>
          <p:cNvPr id="4" name="TextBox 4"/>
          <p:cNvSpPr txBox="1"/>
          <p:nvPr/>
        </p:nvSpPr>
        <p:spPr>
          <a:xfrm>
            <a:off x="457086" y="714375"/>
            <a:ext cx="11274781" cy="390525"/>
          </a:xfrm>
          <a:prstGeom prst="rect">
            <a:avLst/>
          </a:prstGeom>
          <a:ln>
            <a:headEnd type="none"/>
            <a:tailEnd type="none"/>
          </a:ln>
        </p:spPr>
        <p:txBody>
          <a:bodyPr vert="horz" wrap="square" lIns="0" tIns="0" rIns="0" bIns="0" rtlCol="0" anchor="t" anchorCtr="0"/>
          <a:lstStyle/>
          <a:p>
            <a:pPr algn="l">
              <a:defRPr/>
            </a:pPr>
            <a:r>
              <a:rPr lang="en-US" sz="27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行业背景：从展示走向运营的范式转移</a:t>
            </a:r>
            <a:endParaRPr lang="en-US" sz="1100"/>
          </a:p>
        </p:txBody>
      </p:sp>
      <p:sp>
        <p:nvSpPr>
          <p:cNvPr id="5" name="TextBox 5"/>
          <p:cNvSpPr txBox="1"/>
          <p:nvPr/>
        </p:nvSpPr>
        <p:spPr>
          <a:xfrm>
            <a:off x="457086" y="1344811"/>
            <a:ext cx="11274781"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数字孪生行业正经历从一次性展示项目向长期运营系统的根本性转变，客户关注点从画</a:t>
            </a:r>
            <a:endParaRPr lang="en-US" sz="1100"/>
          </a:p>
          <a:p>
            <a:pPr algn="l"/>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面效果转向系统能否接入真实数据、实现告警联动与支撑日常运营，标志着行业进入价</a:t>
            </a:r>
            <a:endPar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rPr>
              <a:t>值落地期。</a:t>
            </a:r>
            <a:endParaRPr sz="1100" b="0" i="0" strike="noStrike">
              <a:solidFill>
                <a:srgbClr val="0A1F3D">
                  <a:alpha val="90196"/>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40199" y="2283023"/>
            <a:ext cx="152362" cy="152400"/>
          </a:xfrm>
          <a:custGeom>
            <a:avLst/>
            <a:gdLst/>
            <a:ahLst/>
            <a:cxnLst/>
            <a:rect l="l" t="t" r="r" b="b"/>
            <a:pathLst>
              <a:path w="9998" h="10000">
                <a:moveTo>
                  <a:pt x="4999" y="10000"/>
                </a:move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cubicBezTo>
                  <a:pt x="0" y="4320"/>
                  <a:pt x="130" y="3670"/>
                  <a:pt x="390" y="3050"/>
                </a:cubicBezTo>
                <a:cubicBezTo>
                  <a:pt x="643" y="2456"/>
                  <a:pt x="1001" y="1928"/>
                  <a:pt x="1465" y="1465"/>
                </a:cubicBezTo>
                <a:cubicBezTo>
                  <a:pt x="1928" y="1001"/>
                  <a:pt x="2456" y="643"/>
                  <a:pt x="3049" y="390"/>
                </a:cubicBezTo>
                <a:cubicBezTo>
                  <a:pt x="3669" y="130"/>
                  <a:pt x="4319"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cubicBezTo>
                  <a:pt x="9998" y="5680"/>
                  <a:pt x="9868" y="6330"/>
                  <a:pt x="9608" y="6950"/>
                </a:cubicBezTo>
                <a:cubicBezTo>
                  <a:pt x="9354" y="7543"/>
                  <a:pt x="8996" y="8071"/>
                  <a:pt x="8533" y="8535"/>
                </a:cubicBezTo>
                <a:cubicBezTo>
                  <a:pt x="8069" y="8998"/>
                  <a:pt x="7541" y="9356"/>
                  <a:pt x="6949" y="9610"/>
                </a:cubicBezTo>
                <a:cubicBezTo>
                  <a:pt x="6329" y="9870"/>
                  <a:pt x="5679" y="10000"/>
                  <a:pt x="4999" y="10000"/>
                </a:cubicBezTo>
                <a:moveTo>
                  <a:pt x="4999" y="9000"/>
                </a:moveTo>
                <a:cubicBezTo>
                  <a:pt x="5725" y="9000"/>
                  <a:pt x="6399" y="8816"/>
                  <a:pt x="7019" y="8450"/>
                </a:cubicBezTo>
                <a:cubicBezTo>
                  <a:pt x="7618" y="8096"/>
                  <a:pt x="8094" y="7620"/>
                  <a:pt x="8448" y="7020"/>
                </a:cubicBezTo>
                <a:cubicBezTo>
                  <a:pt x="8814" y="6400"/>
                  <a:pt x="8998" y="5726"/>
                  <a:pt x="8998" y="5000"/>
                </a:cubicBezTo>
                <a:cubicBezTo>
                  <a:pt x="8998" y="4273"/>
                  <a:pt x="8814" y="3600"/>
                  <a:pt x="8448" y="2980"/>
                </a:cubicBezTo>
                <a:cubicBezTo>
                  <a:pt x="8094" y="2380"/>
                  <a:pt x="7618" y="1903"/>
                  <a:pt x="7019" y="1550"/>
                </a:cubicBezTo>
                <a:cubicBezTo>
                  <a:pt x="6399" y="1183"/>
                  <a:pt x="5725" y="1000"/>
                  <a:pt x="4999" y="1000"/>
                </a:cubicBezTo>
                <a:cubicBezTo>
                  <a:pt x="4272" y="1000"/>
                  <a:pt x="3599" y="1183"/>
                  <a:pt x="2979" y="1550"/>
                </a:cubicBezTo>
                <a:cubicBezTo>
                  <a:pt x="2379" y="1903"/>
                  <a:pt x="1903" y="2380"/>
                  <a:pt x="1550" y="2980"/>
                </a:cubicBezTo>
                <a:cubicBezTo>
                  <a:pt x="1183" y="3600"/>
                  <a:pt x="1000" y="4273"/>
                  <a:pt x="1000" y="5000"/>
                </a:cubicBezTo>
                <a:cubicBezTo>
                  <a:pt x="1000" y="5726"/>
                  <a:pt x="1183" y="6400"/>
                  <a:pt x="1550" y="7020"/>
                </a:cubicBezTo>
                <a:cubicBezTo>
                  <a:pt x="1903" y="7620"/>
                  <a:pt x="2379" y="8096"/>
                  <a:pt x="2979" y="8450"/>
                </a:cubicBezTo>
                <a:cubicBezTo>
                  <a:pt x="3599" y="8816"/>
                  <a:pt x="4272" y="9000"/>
                  <a:pt x="4999" y="9000"/>
                </a:cubicBezTo>
                <a:moveTo>
                  <a:pt x="4499" y="7500"/>
                </a:moveTo>
                <a:lnTo>
                  <a:pt x="4499" y="6500"/>
                </a:lnTo>
                <a:lnTo>
                  <a:pt x="5499" y="6500"/>
                </a:lnTo>
                <a:lnTo>
                  <a:pt x="5499" y="7500"/>
                </a:lnTo>
                <a:lnTo>
                  <a:pt x="4499" y="7500"/>
                </a:lnTo>
                <a:moveTo>
                  <a:pt x="4499" y="5500"/>
                </a:moveTo>
                <a:lnTo>
                  <a:pt x="4499" y="2500"/>
                </a:lnTo>
                <a:lnTo>
                  <a:pt x="5499" y="2500"/>
                </a:lnTo>
                <a:lnTo>
                  <a:pt x="5499" y="5500"/>
                </a:lnTo>
              </a:path>
            </a:pathLst>
          </a:custGeom>
          <a:solidFill>
            <a:srgbClr val="5B8CB8">
              <a:alpha val="100000"/>
            </a:srgbClr>
          </a:solidFill>
          <a:ln>
            <a:headEnd type="none"/>
            <a:tailEnd type="none"/>
          </a:ln>
        </p:spPr>
      </p:sp>
      <p:sp>
        <p:nvSpPr>
          <p:cNvPr id="7" name="TextBox 7"/>
          <p:cNvSpPr txBox="1"/>
          <p:nvPr/>
        </p:nvSpPr>
        <p:spPr>
          <a:xfrm>
            <a:off x="689944" y="2244923"/>
            <a:ext cx="5214080"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传统展示型项目痛点</a:t>
            </a:r>
            <a:endParaRPr lang="en-US" sz="1100"/>
          </a:p>
        </p:txBody>
      </p:sp>
      <p:sp>
        <p:nvSpPr>
          <p:cNvPr id="8" name="TextBox 8"/>
          <p:cNvSpPr txBox="1"/>
          <p:nvPr/>
        </p:nvSpPr>
        <p:spPr>
          <a:xfrm>
            <a:off x="689944" y="2483048"/>
            <a:ext cx="11041922" cy="340966"/>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系统入口分散导致数据无法统一呈现，大屏仅能展示无法真正服务管理，业务逻辑与数据联动实</a:t>
            </a:r>
            <a:endParaRPr lang="en-US" sz="1100"/>
          </a:p>
          <a:p>
            <a:pPr algn="l"/>
            <a:r>
              <a:rPr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现困难</a:t>
            </a:r>
            <a:endParaRPr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9" name="AutoShape 9"/>
          <p:cNvSpPr/>
          <p:nvPr/>
        </p:nvSpPr>
        <p:spPr>
          <a:xfrm>
            <a:off x="440199" y="3031628"/>
            <a:ext cx="152362" cy="152400"/>
          </a:xfrm>
          <a:custGeom>
            <a:avLst/>
            <a:gdLst/>
            <a:ahLst/>
            <a:cxnLst/>
            <a:rect l="l" t="t" r="r" b="b"/>
            <a:pathLst>
              <a:path w="9998" h="10000">
                <a:moveTo>
                  <a:pt x="508" y="7583"/>
                </a:moveTo>
                <a:cubicBezTo>
                  <a:pt x="286" y="7203"/>
                  <a:pt x="117" y="6804"/>
                  <a:pt x="0" y="6384"/>
                </a:cubicBezTo>
                <a:cubicBezTo>
                  <a:pt x="256" y="6253"/>
                  <a:pt x="461" y="6064"/>
                  <a:pt x="617" y="5816"/>
                </a:cubicBezTo>
                <a:cubicBezTo>
                  <a:pt x="772" y="5568"/>
                  <a:pt x="850" y="5296"/>
                  <a:pt x="850" y="5000"/>
                </a:cubicBezTo>
                <a:cubicBezTo>
                  <a:pt x="850" y="4704"/>
                  <a:pt x="772" y="4432"/>
                  <a:pt x="617" y="4184"/>
                </a:cubicBezTo>
                <a:cubicBezTo>
                  <a:pt x="461" y="3936"/>
                  <a:pt x="256" y="3746"/>
                  <a:pt x="0" y="3616"/>
                </a:cubicBezTo>
                <a:cubicBezTo>
                  <a:pt x="242" y="2754"/>
                  <a:pt x="674" y="2007"/>
                  <a:pt x="1296" y="1374"/>
                </a:cubicBezTo>
                <a:cubicBezTo>
                  <a:pt x="1538" y="1532"/>
                  <a:pt x="1806" y="1617"/>
                  <a:pt x="2100" y="1627"/>
                </a:cubicBezTo>
                <a:cubicBezTo>
                  <a:pt x="2394" y="1637"/>
                  <a:pt x="2669" y="1568"/>
                  <a:pt x="2925" y="1420"/>
                </a:cubicBezTo>
                <a:cubicBezTo>
                  <a:pt x="3180" y="1272"/>
                  <a:pt x="3377" y="1069"/>
                  <a:pt x="3516" y="811"/>
                </a:cubicBezTo>
                <a:cubicBezTo>
                  <a:pt x="3654" y="553"/>
                  <a:pt x="3716" y="282"/>
                  <a:pt x="3703" y="0"/>
                </a:cubicBezTo>
                <a:cubicBezTo>
                  <a:pt x="4567" y="-227"/>
                  <a:pt x="5431" y="-227"/>
                  <a:pt x="6295" y="0"/>
                </a:cubicBezTo>
                <a:cubicBezTo>
                  <a:pt x="6281" y="282"/>
                  <a:pt x="6344" y="553"/>
                  <a:pt x="6482" y="811"/>
                </a:cubicBezTo>
                <a:cubicBezTo>
                  <a:pt x="6620" y="1069"/>
                  <a:pt x="6817" y="1272"/>
                  <a:pt x="7073" y="1420"/>
                </a:cubicBezTo>
                <a:cubicBezTo>
                  <a:pt x="7329" y="1568"/>
                  <a:pt x="7604" y="1637"/>
                  <a:pt x="7898" y="1627"/>
                </a:cubicBezTo>
                <a:cubicBezTo>
                  <a:pt x="8192" y="1617"/>
                  <a:pt x="8460" y="1532"/>
                  <a:pt x="8702" y="1374"/>
                </a:cubicBezTo>
                <a:cubicBezTo>
                  <a:pt x="9006" y="1690"/>
                  <a:pt x="9268" y="2038"/>
                  <a:pt x="9490" y="2417"/>
                </a:cubicBezTo>
                <a:cubicBezTo>
                  <a:pt x="9711" y="2796"/>
                  <a:pt x="9880" y="3196"/>
                  <a:pt x="9998" y="3616"/>
                </a:cubicBezTo>
                <a:cubicBezTo>
                  <a:pt x="9742" y="3746"/>
                  <a:pt x="9536" y="3936"/>
                  <a:pt x="9381" y="4184"/>
                </a:cubicBezTo>
                <a:cubicBezTo>
                  <a:pt x="9225" y="4432"/>
                  <a:pt x="9148" y="4704"/>
                  <a:pt x="9148" y="5000"/>
                </a:cubicBezTo>
                <a:cubicBezTo>
                  <a:pt x="9148" y="5296"/>
                  <a:pt x="9225" y="5568"/>
                  <a:pt x="9381" y="5816"/>
                </a:cubicBezTo>
                <a:cubicBezTo>
                  <a:pt x="9536" y="6064"/>
                  <a:pt x="9742" y="6253"/>
                  <a:pt x="9998" y="6384"/>
                </a:cubicBezTo>
                <a:cubicBezTo>
                  <a:pt x="9756" y="7245"/>
                  <a:pt x="9324" y="7992"/>
                  <a:pt x="8702" y="8626"/>
                </a:cubicBezTo>
                <a:cubicBezTo>
                  <a:pt x="8460" y="8467"/>
                  <a:pt x="8192" y="8383"/>
                  <a:pt x="7898" y="8373"/>
                </a:cubicBezTo>
                <a:cubicBezTo>
                  <a:pt x="7604" y="8362"/>
                  <a:pt x="7329" y="8431"/>
                  <a:pt x="7073" y="8580"/>
                </a:cubicBezTo>
                <a:cubicBezTo>
                  <a:pt x="6817" y="8728"/>
                  <a:pt x="6620" y="8931"/>
                  <a:pt x="6482" y="9189"/>
                </a:cubicBezTo>
                <a:cubicBezTo>
                  <a:pt x="6344" y="9447"/>
                  <a:pt x="6281" y="9717"/>
                  <a:pt x="6295" y="10000"/>
                </a:cubicBezTo>
                <a:cubicBezTo>
                  <a:pt x="5431" y="10227"/>
                  <a:pt x="4567" y="10227"/>
                  <a:pt x="3703" y="10000"/>
                </a:cubicBezTo>
                <a:cubicBezTo>
                  <a:pt x="3716" y="9717"/>
                  <a:pt x="3654" y="9447"/>
                  <a:pt x="3516" y="9189"/>
                </a:cubicBezTo>
                <a:cubicBezTo>
                  <a:pt x="3377" y="8931"/>
                  <a:pt x="3180" y="8728"/>
                  <a:pt x="2925" y="8580"/>
                </a:cubicBezTo>
                <a:cubicBezTo>
                  <a:pt x="2669" y="8431"/>
                  <a:pt x="2394" y="8362"/>
                  <a:pt x="2100" y="8373"/>
                </a:cubicBezTo>
                <a:cubicBezTo>
                  <a:pt x="1806" y="8383"/>
                  <a:pt x="1538" y="8467"/>
                  <a:pt x="1296" y="8626"/>
                </a:cubicBezTo>
                <a:cubicBezTo>
                  <a:pt x="992" y="8309"/>
                  <a:pt x="729" y="7961"/>
                  <a:pt x="508" y="7583"/>
                </a:cubicBezTo>
                <a:moveTo>
                  <a:pt x="3443" y="7686"/>
                </a:moveTo>
                <a:cubicBezTo>
                  <a:pt x="3719" y="7844"/>
                  <a:pt x="3958" y="8047"/>
                  <a:pt x="4159" y="8295"/>
                </a:cubicBezTo>
                <a:cubicBezTo>
                  <a:pt x="4359" y="8543"/>
                  <a:pt x="4511" y="8815"/>
                  <a:pt x="4615" y="9112"/>
                </a:cubicBezTo>
                <a:cubicBezTo>
                  <a:pt x="4871" y="9139"/>
                  <a:pt x="5127" y="9139"/>
                  <a:pt x="5383" y="9112"/>
                </a:cubicBezTo>
                <a:cubicBezTo>
                  <a:pt x="5486" y="8815"/>
                  <a:pt x="5636" y="8543"/>
                  <a:pt x="5834" y="8295"/>
                </a:cubicBezTo>
                <a:cubicBezTo>
                  <a:pt x="6030" y="8047"/>
                  <a:pt x="6269" y="7843"/>
                  <a:pt x="6550" y="7681"/>
                </a:cubicBezTo>
                <a:cubicBezTo>
                  <a:pt x="6830" y="7519"/>
                  <a:pt x="7129" y="7414"/>
                  <a:pt x="7447" y="7366"/>
                </a:cubicBezTo>
                <a:cubicBezTo>
                  <a:pt x="7765" y="7317"/>
                  <a:pt x="8076" y="7327"/>
                  <a:pt x="8380" y="7397"/>
                </a:cubicBezTo>
                <a:cubicBezTo>
                  <a:pt x="8532" y="7183"/>
                  <a:pt x="8663" y="6959"/>
                  <a:pt x="8774" y="6725"/>
                </a:cubicBezTo>
                <a:cubicBezTo>
                  <a:pt x="8560" y="6491"/>
                  <a:pt x="8396" y="6226"/>
                  <a:pt x="8282" y="5930"/>
                </a:cubicBezTo>
                <a:cubicBezTo>
                  <a:pt x="8167" y="5634"/>
                  <a:pt x="8110" y="5324"/>
                  <a:pt x="8110" y="5000"/>
                </a:cubicBezTo>
                <a:cubicBezTo>
                  <a:pt x="8110" y="4676"/>
                  <a:pt x="8167" y="4366"/>
                  <a:pt x="8282" y="4070"/>
                </a:cubicBezTo>
                <a:cubicBezTo>
                  <a:pt x="8396" y="3774"/>
                  <a:pt x="8560" y="3509"/>
                  <a:pt x="8774" y="3275"/>
                </a:cubicBezTo>
                <a:cubicBezTo>
                  <a:pt x="8718" y="3157"/>
                  <a:pt x="8658" y="3044"/>
                  <a:pt x="8593" y="2934"/>
                </a:cubicBezTo>
                <a:cubicBezTo>
                  <a:pt x="8527" y="2824"/>
                  <a:pt x="8456" y="2713"/>
                  <a:pt x="8380" y="2603"/>
                </a:cubicBezTo>
                <a:cubicBezTo>
                  <a:pt x="8076" y="2672"/>
                  <a:pt x="7765" y="2682"/>
                  <a:pt x="7447" y="2634"/>
                </a:cubicBezTo>
                <a:cubicBezTo>
                  <a:pt x="7129" y="2586"/>
                  <a:pt x="6831" y="2481"/>
                  <a:pt x="6555" y="2319"/>
                </a:cubicBezTo>
                <a:cubicBezTo>
                  <a:pt x="6278" y="2157"/>
                  <a:pt x="6039" y="1952"/>
                  <a:pt x="5839" y="1705"/>
                </a:cubicBezTo>
                <a:cubicBezTo>
                  <a:pt x="5638" y="1457"/>
                  <a:pt x="5486" y="1184"/>
                  <a:pt x="5383" y="888"/>
                </a:cubicBezTo>
                <a:cubicBezTo>
                  <a:pt x="5127" y="860"/>
                  <a:pt x="4871" y="860"/>
                  <a:pt x="4615" y="888"/>
                </a:cubicBezTo>
                <a:cubicBezTo>
                  <a:pt x="4511" y="1184"/>
                  <a:pt x="4361" y="1457"/>
                  <a:pt x="4164" y="1705"/>
                </a:cubicBezTo>
                <a:cubicBezTo>
                  <a:pt x="3967" y="1952"/>
                  <a:pt x="3727" y="2157"/>
                  <a:pt x="3443" y="2319"/>
                </a:cubicBezTo>
                <a:cubicBezTo>
                  <a:pt x="3159" y="2481"/>
                  <a:pt x="2860" y="2586"/>
                  <a:pt x="2546" y="2634"/>
                </a:cubicBezTo>
                <a:cubicBezTo>
                  <a:pt x="2231" y="2682"/>
                  <a:pt x="1922" y="2672"/>
                  <a:pt x="1618" y="2603"/>
                </a:cubicBezTo>
                <a:cubicBezTo>
                  <a:pt x="1466" y="2817"/>
                  <a:pt x="1334" y="3041"/>
                  <a:pt x="1224" y="3275"/>
                </a:cubicBezTo>
                <a:cubicBezTo>
                  <a:pt x="1438" y="3509"/>
                  <a:pt x="1602" y="3774"/>
                  <a:pt x="1716" y="4070"/>
                </a:cubicBezTo>
                <a:cubicBezTo>
                  <a:pt x="1830" y="4366"/>
                  <a:pt x="1888" y="4676"/>
                  <a:pt x="1888" y="5000"/>
                </a:cubicBezTo>
                <a:cubicBezTo>
                  <a:pt x="1888" y="5324"/>
                  <a:pt x="1830" y="5634"/>
                  <a:pt x="1716" y="5930"/>
                </a:cubicBezTo>
                <a:cubicBezTo>
                  <a:pt x="1602" y="6226"/>
                  <a:pt x="1438" y="6491"/>
                  <a:pt x="1224" y="6725"/>
                </a:cubicBezTo>
                <a:cubicBezTo>
                  <a:pt x="1279" y="6842"/>
                  <a:pt x="1339" y="6956"/>
                  <a:pt x="1405" y="7066"/>
                </a:cubicBezTo>
                <a:cubicBezTo>
                  <a:pt x="1471" y="7176"/>
                  <a:pt x="1542" y="7286"/>
                  <a:pt x="1618" y="7397"/>
                </a:cubicBezTo>
                <a:cubicBezTo>
                  <a:pt x="1922" y="7327"/>
                  <a:pt x="2233" y="7317"/>
                  <a:pt x="2551" y="7366"/>
                </a:cubicBezTo>
                <a:cubicBezTo>
                  <a:pt x="2869" y="7414"/>
                  <a:pt x="3166" y="7520"/>
                  <a:pt x="3443" y="7686"/>
                </a:cubicBezTo>
                <a:moveTo>
                  <a:pt x="4999" y="6550"/>
                </a:moveTo>
                <a:cubicBezTo>
                  <a:pt x="4715" y="6550"/>
                  <a:pt x="4454" y="6481"/>
                  <a:pt x="4216" y="6343"/>
                </a:cubicBezTo>
                <a:cubicBezTo>
                  <a:pt x="3977" y="6205"/>
                  <a:pt x="3789" y="6017"/>
                  <a:pt x="3651" y="5780"/>
                </a:cubicBezTo>
                <a:cubicBezTo>
                  <a:pt x="3512" y="5542"/>
                  <a:pt x="3443" y="5282"/>
                  <a:pt x="3443" y="5000"/>
                </a:cubicBezTo>
                <a:cubicBezTo>
                  <a:pt x="3443" y="4717"/>
                  <a:pt x="3512" y="4457"/>
                  <a:pt x="3651" y="4220"/>
                </a:cubicBezTo>
                <a:cubicBezTo>
                  <a:pt x="3789" y="3982"/>
                  <a:pt x="3977" y="3795"/>
                  <a:pt x="4216" y="3657"/>
                </a:cubicBezTo>
                <a:cubicBezTo>
                  <a:pt x="4454" y="3519"/>
                  <a:pt x="4715" y="3450"/>
                  <a:pt x="4999" y="3450"/>
                </a:cubicBezTo>
                <a:cubicBezTo>
                  <a:pt x="5282" y="3450"/>
                  <a:pt x="5543" y="3519"/>
                  <a:pt x="5782" y="3657"/>
                </a:cubicBezTo>
                <a:cubicBezTo>
                  <a:pt x="6020" y="3795"/>
                  <a:pt x="6209" y="3982"/>
                  <a:pt x="6347" y="4220"/>
                </a:cubicBezTo>
                <a:cubicBezTo>
                  <a:pt x="6485" y="4457"/>
                  <a:pt x="6555" y="4717"/>
                  <a:pt x="6555" y="5000"/>
                </a:cubicBezTo>
                <a:cubicBezTo>
                  <a:pt x="6555" y="5282"/>
                  <a:pt x="6485" y="5542"/>
                  <a:pt x="6347" y="5780"/>
                </a:cubicBezTo>
                <a:cubicBezTo>
                  <a:pt x="6209" y="6017"/>
                  <a:pt x="6020" y="6205"/>
                  <a:pt x="5782" y="6343"/>
                </a:cubicBezTo>
                <a:cubicBezTo>
                  <a:pt x="5543" y="6481"/>
                  <a:pt x="5282" y="6550"/>
                  <a:pt x="4999" y="6550"/>
                </a:cubicBezTo>
                <a:moveTo>
                  <a:pt x="4999" y="5517"/>
                </a:moveTo>
                <a:cubicBezTo>
                  <a:pt x="5144" y="5517"/>
                  <a:pt x="5267" y="5467"/>
                  <a:pt x="5367" y="5367"/>
                </a:cubicBezTo>
                <a:cubicBezTo>
                  <a:pt x="5467" y="5267"/>
                  <a:pt x="5518" y="5144"/>
                  <a:pt x="5518" y="5000"/>
                </a:cubicBezTo>
                <a:cubicBezTo>
                  <a:pt x="5518" y="4855"/>
                  <a:pt x="5467" y="4733"/>
                  <a:pt x="5367" y="4633"/>
                </a:cubicBezTo>
                <a:cubicBezTo>
                  <a:pt x="5267" y="4533"/>
                  <a:pt x="5144" y="4483"/>
                  <a:pt x="4999" y="4483"/>
                </a:cubicBezTo>
                <a:cubicBezTo>
                  <a:pt x="4853" y="4483"/>
                  <a:pt x="4731" y="4533"/>
                  <a:pt x="4631" y="4633"/>
                </a:cubicBezTo>
                <a:cubicBezTo>
                  <a:pt x="4530" y="4733"/>
                  <a:pt x="4480" y="4855"/>
                  <a:pt x="4480" y="5000"/>
                </a:cubicBezTo>
                <a:cubicBezTo>
                  <a:pt x="4480" y="5144"/>
                  <a:pt x="4530" y="5267"/>
                  <a:pt x="4631" y="5367"/>
                </a:cubicBezTo>
                <a:cubicBezTo>
                  <a:pt x="4731" y="5467"/>
                  <a:pt x="4853" y="5517"/>
                  <a:pt x="4999" y="5517"/>
                </a:cubicBezTo>
              </a:path>
            </a:pathLst>
          </a:custGeom>
          <a:solidFill>
            <a:srgbClr val="5B8CB8">
              <a:alpha val="100000"/>
            </a:srgbClr>
          </a:solidFill>
          <a:ln>
            <a:headEnd type="none"/>
            <a:tailEnd type="none"/>
          </a:ln>
        </p:spPr>
      </p:sp>
      <p:sp>
        <p:nvSpPr>
          <p:cNvPr id="10" name="TextBox 10"/>
          <p:cNvSpPr txBox="1"/>
          <p:nvPr/>
        </p:nvSpPr>
        <p:spPr>
          <a:xfrm>
            <a:off x="689944" y="2993528"/>
            <a:ext cx="4704174"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运营型系统需求特征</a:t>
            </a:r>
            <a:endParaRPr lang="en-US" sz="1100"/>
          </a:p>
        </p:txBody>
      </p:sp>
      <p:sp>
        <p:nvSpPr>
          <p:cNvPr id="11" name="TextBox 11"/>
          <p:cNvSpPr txBox="1"/>
          <p:nvPr/>
        </p:nvSpPr>
        <p:spPr>
          <a:xfrm>
            <a:off x="689944" y="3231653"/>
            <a:ext cx="5214080" cy="142875"/>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客户期望同时解决看、管、用三大问题，要求三维场景、真实数据与业务逻辑深度整合</a:t>
            </a:r>
            <a:endParaRPr lang="en-US" sz="1100"/>
          </a:p>
        </p:txBody>
      </p:sp>
      <p:sp>
        <p:nvSpPr>
          <p:cNvPr id="12" name="TextBox 12"/>
          <p:cNvSpPr txBox="1"/>
          <p:nvPr/>
        </p:nvSpPr>
        <p:spPr>
          <a:xfrm>
            <a:off x="571358" y="3544044"/>
            <a:ext cx="4827967"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市场供给结构性缺口</a:t>
            </a:r>
            <a:endParaRPr lang="en-US" sz="1100"/>
          </a:p>
        </p:txBody>
      </p:sp>
      <p:sp>
        <p:nvSpPr>
          <p:cNvPr id="13" name="TextBox 13"/>
          <p:cNvSpPr txBox="1"/>
          <p:nvPr/>
        </p:nvSpPr>
        <p:spPr>
          <a:xfrm>
            <a:off x="571358" y="3782169"/>
            <a:ext cx="5332666" cy="142875"/>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大厂方案能力强但价格高周期长；低代码平台复杂定制能力有限；普通外包技术沉淀不足</a:t>
            </a:r>
            <a:endParaRPr lang="en-US" sz="1100"/>
          </a:p>
        </p:txBody>
      </p:sp>
      <p:sp>
        <p:nvSpPr>
          <p:cNvPr id="14" name="TextBox 14"/>
          <p:cNvSpPr txBox="1"/>
          <p:nvPr/>
        </p:nvSpPr>
        <p:spPr>
          <a:xfrm>
            <a:off x="571358" y="4094560"/>
            <a:ext cx="4951762"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核心趋势判断</a:t>
            </a:r>
            <a:endParaRPr lang="en-US" sz="1100"/>
          </a:p>
        </p:txBody>
      </p:sp>
      <p:sp>
        <p:nvSpPr>
          <p:cNvPr id="15" name="TextBox 15"/>
          <p:cNvSpPr txBox="1"/>
          <p:nvPr/>
        </p:nvSpPr>
        <p:spPr>
          <a:xfrm>
            <a:off x="571358" y="4332685"/>
            <a:ext cx="5332666" cy="142875"/>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80000"/>
                  </a:srgbClr>
                </a:solidFill>
                <a:latin typeface="FZYaYiHei GB18030L2 R" panose="02000500000000000000" charset="-122"/>
                <a:ea typeface="FZYaYiHei GB18030L2 R" panose="02000500000000000000" charset="-122"/>
                <a:cs typeface="FZYaYiHei GB18030L2 R" panose="02000500000000000000" charset="-122"/>
              </a:rPr>
              <a:t>数字孪生已从展示项目升级为运营系统，园区、工厂、能源等场景的实时监测需求持续增强</a:t>
            </a:r>
            <a:endParaRPr lang="en-US" sz="1100"/>
          </a:p>
        </p:txBody>
      </p:sp>
      <p:sp>
        <p:nvSpPr>
          <p:cNvPr id="16" name="AutoShape 16"/>
          <p:cNvSpPr/>
          <p:nvPr/>
        </p:nvSpPr>
        <p:spPr>
          <a:xfrm>
            <a:off x="6284928" y="1306711"/>
            <a:ext cx="5446937" cy="5094089"/>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6284928" y="1306711"/>
            <a:ext cx="5446937" cy="9525"/>
          </a:xfrm>
          <a:prstGeom prst="line">
            <a:avLst/>
          </a:prstGeom>
          <a:ln w="28575">
            <a:solidFill>
              <a:srgbClr val="5B8CB8">
                <a:alpha val="100000"/>
              </a:srgbClr>
            </a:solidFill>
            <a:prstDash val="solid"/>
            <a:headEnd type="none"/>
            <a:tailEnd type="none"/>
          </a:ln>
        </p:spPr>
      </p:sp>
      <p:sp>
        <p:nvSpPr>
          <p:cNvPr id="18" name="TextBox 18"/>
          <p:cNvSpPr txBox="1"/>
          <p:nvPr/>
        </p:nvSpPr>
        <p:spPr>
          <a:xfrm>
            <a:off x="7213384" y="1525786"/>
            <a:ext cx="3590027" cy="228600"/>
          </a:xfrm>
          <a:prstGeom prst="rect">
            <a:avLst/>
          </a:prstGeom>
          <a:ln>
            <a:headEnd type="none"/>
            <a:tailEnd type="none"/>
          </a:ln>
        </p:spPr>
        <p:txBody>
          <a:bodyPr vert="horz" wrap="square" lIns="0" tIns="0" rIns="0" bIns="0" rtlCol="0" anchor="t" anchorCtr="1"/>
          <a:lstStyle/>
          <a:p>
            <a:pPr algn="ctr">
              <a:defRPr/>
            </a:pPr>
            <a:r>
              <a:rPr lang="en-US" sz="12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全球数字孪生市场规模增长趋势</a:t>
            </a:r>
            <a:endParaRPr lang="en-US" sz="1100"/>
          </a:p>
        </p:txBody>
      </p:sp>
      <p:graphicFrame>
        <p:nvGraphicFramePr>
          <p:cNvPr id="19" name="Chart 19"/>
          <p:cNvGraphicFramePr>
            <a:graphicFrameLocks noGrp="1"/>
          </p:cNvGraphicFramePr>
          <p:nvPr/>
        </p:nvGraphicFramePr>
        <p:xfrm>
          <a:off x="6484903" y="1868686"/>
          <a:ext cx="5046988" cy="4098727"/>
        </p:xfrm>
        <a:graphic>
          <a:graphicData uri="http://schemas.openxmlformats.org/drawingml/2006/chart">
            <c:chart xmlns:c="http://schemas.openxmlformats.org/drawingml/2006/chart" xmlns:r="http://schemas.openxmlformats.org/officeDocument/2006/relationships" r:id="rId1"/>
          </a:graphicData>
        </a:graphic>
      </p:graphicFrame>
      <p:sp>
        <p:nvSpPr>
          <p:cNvPr id="20" name="TextBox 19"/>
          <p:cNvSpPr txBox="1"/>
          <p:nvPr/>
        </p:nvSpPr>
        <p:spPr>
          <a:xfrm>
            <a:off x="7308610" y="6043612"/>
            <a:ext cx="3399575" cy="157162"/>
          </a:xfrm>
          <a:prstGeom prst="rect">
            <a:avLst/>
          </a:prstGeom>
          <a:ln>
            <a:headEnd type="none"/>
            <a:tailEnd type="none"/>
          </a:ln>
        </p:spPr>
        <p:txBody>
          <a:bodyPr vert="horz" wrap="square" lIns="0" tIns="0" rIns="0" bIns="0" rtlCol="0" anchor="t" anchorCtr="1"/>
          <a:lstStyle/>
          <a:p>
            <a:pPr algn="ctr">
              <a:defRPr/>
            </a:pPr>
            <a:r>
              <a:rPr lang="en-US" sz="800" b="0" i="0" strike="noStrike">
                <a:solidFill>
                  <a:srgbClr val="0A1F3D">
                    <a:alpha val="50196"/>
                  </a:srgbClr>
                </a:solidFill>
                <a:latin typeface="Alibaba PuHuiTi 3.0 55 Regular" panose="00020600040101010101" charset="-122"/>
                <a:ea typeface="Alibaba PuHuiTi 3.0 55 Regular" panose="00020600040101010101" charset="-122"/>
                <a:cs typeface="Alibaba PuHuiTi 3.0 55 Regular" panose="00020600040101010101" charset="-122"/>
              </a:rPr>
              <a:t>数据来源：行业研究报告 2020-2024E</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none" lIns="0" tIns="0" rIns="0" bIns="0" rtlCol="0" anchor="t" anchorCtr="0"/>
          <a:lstStyle/>
          <a:p>
            <a:pPr algn="l">
              <a:defRPr/>
            </a:pPr>
            <a:r>
              <a:rPr lang="en-US" sz="900" b="0" i="0" strike="noStrike">
                <a:solidFill>
                  <a:srgbClr val="0A1F3D">
                    <a:alpha val="60000"/>
                  </a:srgbClr>
                </a:solidFill>
                <a:latin typeface="Alibaba PuHuiTi 3.0 55 Regular" panose="00020600040101010101" charset="-122"/>
                <a:ea typeface="Alibaba PuHuiTi 3.0 55 Regular" panose="00020600040101010101" charset="-122"/>
                <a:cs typeface="Alibaba PuHuiTi 3.0 55 Regular" panose="00020600040101010101" charset="-122"/>
              </a:rPr>
              <a:t>Solutions</a:t>
            </a:r>
            <a:endParaRPr lang="en-US" sz="1100"/>
          </a:p>
        </p:txBody>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解决方案：全链路数字孪生能力</a:t>
            </a:r>
            <a:endParaRPr lang="en-US" sz="1100"/>
          </a:p>
        </p:txBody>
      </p:sp>
      <p:sp>
        <p:nvSpPr>
          <p:cNvPr id="5" name="AutoShape 5"/>
          <p:cNvSpPr/>
          <p:nvPr/>
        </p:nvSpPr>
        <p:spPr>
          <a:xfrm>
            <a:off x="457086" y="1504950"/>
            <a:ext cx="3605799" cy="4181475"/>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a:off x="457086" y="1504950"/>
            <a:ext cx="3605799" cy="9525"/>
          </a:xfrm>
          <a:prstGeom prst="line">
            <a:avLst/>
          </a:prstGeom>
          <a:ln w="28575">
            <a:solidFill>
              <a:srgbClr val="5B8CB8">
                <a:alpha val="100000"/>
              </a:srgbClr>
            </a:solidFill>
            <a:prstDash val="solid"/>
            <a:headEnd type="none"/>
            <a:tailEnd type="none"/>
          </a:ln>
        </p:spPr>
      </p:sp>
      <p:pic>
        <p:nvPicPr>
          <p:cNvPr id="7" name="Picture 7"/>
          <p:cNvPicPr>
            <a:picLocks noChangeAspect="1"/>
          </p:cNvPicPr>
          <p:nvPr/>
        </p:nvPicPr>
        <p:blipFill>
          <a:blip r:embed="rId1">
            <a:alphaModFix amt="100000"/>
          </a:blip>
          <a:srcRect/>
          <a:stretch>
            <a:fillRect/>
          </a:stretch>
        </p:blipFill>
        <p:spPr>
          <a:xfrm>
            <a:off x="695151" y="1762125"/>
            <a:ext cx="3129669" cy="1760785"/>
          </a:xfrm>
          <a:prstGeom prst="rect">
            <a:avLst/>
          </a:prstGeom>
          <a:ln>
            <a:headEnd type="none"/>
            <a:tailEnd type="none"/>
          </a:ln>
        </p:spPr>
      </p:pic>
      <p:sp>
        <p:nvSpPr>
          <p:cNvPr id="8" name="TextBox 8"/>
          <p:cNvSpPr txBox="1"/>
          <p:nvPr/>
        </p:nvSpPr>
        <p:spPr>
          <a:xfrm>
            <a:off x="695151" y="3684835"/>
            <a:ext cx="3129669" cy="190500"/>
          </a:xfrm>
          <a:prstGeom prst="rect">
            <a:avLst/>
          </a:prstGeom>
          <a:ln>
            <a:headEnd type="none"/>
            <a:tailEnd type="none"/>
          </a:ln>
        </p:spPr>
        <p:txBody>
          <a:bodyPr vert="horz" wrap="square" lIns="0" tIns="0" rIns="0" bIns="0" rtlCol="0" anchor="t" anchorCtr="0"/>
          <a:lstStyle/>
          <a:p>
            <a:pPr algn="l">
              <a:defRPr/>
            </a:pPr>
            <a:r>
              <a:rPr lang="en-US" sz="13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全场景系统开发</a:t>
            </a:r>
            <a:endParaRPr lang="en-US" sz="1100"/>
          </a:p>
        </p:txBody>
      </p:sp>
      <p:sp>
        <p:nvSpPr>
          <p:cNvPr id="9" name="TextBox 9"/>
          <p:cNvSpPr txBox="1"/>
          <p:nvPr/>
        </p:nvSpPr>
        <p:spPr>
          <a:xfrm>
            <a:off x="695151" y="4040981"/>
            <a:ext cx="3367734"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覆盖园区、工厂、能源、水务、展厅、指挥中心</a:t>
            </a:r>
            <a:endParaRPr lang="en-US" sz="1100"/>
          </a:p>
          <a:p>
            <a:pPr algn="l"/>
            <a:r>
              <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及城市治理等多元场景的三维可视化需求</a:t>
            </a:r>
            <a:endPar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10"/>
          <p:cNvSpPr txBox="1"/>
          <p:nvPr/>
        </p:nvSpPr>
        <p:spPr>
          <a:xfrm>
            <a:off x="695151" y="4574381"/>
            <a:ext cx="3367734"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支持PC端、大屏、浏览器端多终端部署，满足从</a:t>
            </a:r>
            <a:endParaRPr lang="en-US" sz="1100"/>
          </a:p>
          <a:p>
            <a:pPr algn="l"/>
            <a:r>
              <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现场管理到指挥决策的全场景使用需求</a:t>
            </a:r>
            <a:endPar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AutoShape 11"/>
          <p:cNvSpPr/>
          <p:nvPr/>
        </p:nvSpPr>
        <p:spPr>
          <a:xfrm>
            <a:off x="4291428" y="1504950"/>
            <a:ext cx="3605948" cy="4181475"/>
          </a:xfrm>
          <a:prstGeom prst="rect">
            <a:avLst/>
          </a:prstGeom>
          <a:solidFill>
            <a:srgbClr val="E8EBEF">
              <a:alpha val="100000"/>
            </a:srgbClr>
          </a:solidFill>
          <a:ln w="9525">
            <a:solidFill>
              <a:srgbClr val="C5CDD6">
                <a:alpha val="100000"/>
              </a:srgbClr>
            </a:solidFill>
            <a:prstDash val="solid"/>
            <a:headEnd type="none"/>
            <a:tailEnd type="none"/>
          </a:ln>
        </p:spPr>
      </p:sp>
      <p:sp>
        <p:nvSpPr>
          <p:cNvPr id="12" name="AutoShape 12"/>
          <p:cNvSpPr/>
          <p:nvPr/>
        </p:nvSpPr>
        <p:spPr>
          <a:xfrm>
            <a:off x="4291428" y="1504950"/>
            <a:ext cx="3605948" cy="9525"/>
          </a:xfrm>
          <a:prstGeom prst="line">
            <a:avLst/>
          </a:prstGeom>
          <a:ln w="28575">
            <a:solidFill>
              <a:srgbClr val="5B8CB8">
                <a:alpha val="100000"/>
              </a:srgbClr>
            </a:solidFill>
            <a:prstDash val="solid"/>
            <a:headEnd type="none"/>
            <a:tailEnd type="none"/>
          </a:ln>
        </p:spPr>
      </p:sp>
      <p:pic>
        <p:nvPicPr>
          <p:cNvPr id="13" name="Picture 13"/>
          <p:cNvPicPr>
            <a:picLocks noChangeAspect="1"/>
          </p:cNvPicPr>
          <p:nvPr/>
        </p:nvPicPr>
        <p:blipFill>
          <a:blip r:embed="rId2">
            <a:alphaModFix amt="100000"/>
          </a:blip>
          <a:srcRect/>
          <a:stretch>
            <a:fillRect/>
          </a:stretch>
        </p:blipFill>
        <p:spPr>
          <a:xfrm>
            <a:off x="4529493" y="1762125"/>
            <a:ext cx="3129817" cy="1760935"/>
          </a:xfrm>
          <a:prstGeom prst="rect">
            <a:avLst/>
          </a:prstGeom>
          <a:ln>
            <a:headEnd type="none"/>
            <a:tailEnd type="none"/>
          </a:ln>
        </p:spPr>
      </p:pic>
      <p:sp>
        <p:nvSpPr>
          <p:cNvPr id="14" name="TextBox 14"/>
          <p:cNvSpPr txBox="1"/>
          <p:nvPr/>
        </p:nvSpPr>
        <p:spPr>
          <a:xfrm>
            <a:off x="4529493" y="3684984"/>
            <a:ext cx="3129817" cy="190500"/>
          </a:xfrm>
          <a:prstGeom prst="rect">
            <a:avLst/>
          </a:prstGeom>
          <a:ln>
            <a:headEnd type="none"/>
            <a:tailEnd type="none"/>
          </a:ln>
        </p:spPr>
        <p:txBody>
          <a:bodyPr vert="horz" wrap="square" lIns="0" tIns="0" rIns="0" bIns="0" rtlCol="0" anchor="t" anchorCtr="0"/>
          <a:lstStyle/>
          <a:p>
            <a:pPr algn="l">
              <a:defRPr/>
            </a:pPr>
            <a:r>
              <a:rPr lang="en-US" sz="13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真实项目落地能力</a:t>
            </a:r>
            <a:endParaRPr lang="en-US" sz="1100"/>
          </a:p>
        </p:txBody>
      </p:sp>
      <p:sp>
        <p:nvSpPr>
          <p:cNvPr id="15" name="TextBox 15"/>
          <p:cNvSpPr txBox="1"/>
          <p:nvPr/>
        </p:nvSpPr>
        <p:spPr>
          <a:xfrm>
            <a:off x="4529493" y="4041130"/>
            <a:ext cx="3367883"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核心能力不仅是三维场景搭建与Web 3D可视化开</a:t>
            </a:r>
            <a:endParaRPr lang="en-US" sz="1100"/>
          </a:p>
          <a:p>
            <a:pPr algn="l"/>
            <a:r>
              <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发，更关键的是实现真实数据接入与告警联动</a:t>
            </a:r>
            <a:endPar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6" name="TextBox 16"/>
          <p:cNvSpPr txBox="1"/>
          <p:nvPr/>
        </p:nvSpPr>
        <p:spPr>
          <a:xfrm>
            <a:off x="4529493" y="4574530"/>
            <a:ext cx="3367883"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重视业务逻辑呈现与后续扩展性，确保系统从交</a:t>
            </a:r>
            <a:endParaRPr lang="en-US" sz="1100"/>
          </a:p>
          <a:p>
            <a:pPr algn="l"/>
            <a:r>
              <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付到长期运营的可维护性，而非一次性视觉呈现</a:t>
            </a:r>
            <a:endPar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AutoShape 17"/>
          <p:cNvSpPr/>
          <p:nvPr/>
        </p:nvSpPr>
        <p:spPr>
          <a:xfrm>
            <a:off x="8125918" y="1504950"/>
            <a:ext cx="3605799" cy="4181475"/>
          </a:xfrm>
          <a:prstGeom prst="rect">
            <a:avLst/>
          </a:prstGeom>
          <a:solidFill>
            <a:srgbClr val="E8EBEF">
              <a:alpha val="100000"/>
            </a:srgbClr>
          </a:solidFill>
          <a:ln w="9525">
            <a:solidFill>
              <a:srgbClr val="C5CDD6">
                <a:alpha val="100000"/>
              </a:srgbClr>
            </a:solidFill>
            <a:prstDash val="solid"/>
            <a:headEnd type="none"/>
            <a:tailEnd type="none"/>
          </a:ln>
        </p:spPr>
      </p:sp>
      <p:sp>
        <p:nvSpPr>
          <p:cNvPr id="18" name="AutoShape 18"/>
          <p:cNvSpPr/>
          <p:nvPr/>
        </p:nvSpPr>
        <p:spPr>
          <a:xfrm>
            <a:off x="8125918" y="1504950"/>
            <a:ext cx="3605799" cy="9525"/>
          </a:xfrm>
          <a:prstGeom prst="line">
            <a:avLst/>
          </a:prstGeom>
          <a:ln w="28575">
            <a:solidFill>
              <a:srgbClr val="5B8CB8">
                <a:alpha val="100000"/>
              </a:srgbClr>
            </a:solidFill>
            <a:prstDash val="solid"/>
            <a:headEnd type="none"/>
            <a:tailEnd type="none"/>
          </a:ln>
        </p:spPr>
      </p:sp>
      <p:pic>
        <p:nvPicPr>
          <p:cNvPr id="19" name="Picture 19"/>
          <p:cNvPicPr>
            <a:picLocks noChangeAspect="1"/>
          </p:cNvPicPr>
          <p:nvPr/>
        </p:nvPicPr>
        <p:blipFill>
          <a:blip r:embed="rId3">
            <a:alphaModFix amt="100000"/>
          </a:blip>
          <a:srcRect/>
          <a:stretch>
            <a:fillRect/>
          </a:stretch>
        </p:blipFill>
        <p:spPr>
          <a:xfrm>
            <a:off x="8363984" y="1762125"/>
            <a:ext cx="3129669" cy="1760785"/>
          </a:xfrm>
          <a:prstGeom prst="rect">
            <a:avLst/>
          </a:prstGeom>
          <a:ln>
            <a:headEnd type="none"/>
            <a:tailEnd type="none"/>
          </a:ln>
        </p:spPr>
      </p:pic>
      <p:sp>
        <p:nvSpPr>
          <p:cNvPr id="20" name="TextBox 20"/>
          <p:cNvSpPr txBox="1"/>
          <p:nvPr/>
        </p:nvSpPr>
        <p:spPr>
          <a:xfrm>
            <a:off x="8363984" y="3684835"/>
            <a:ext cx="3129669" cy="190500"/>
          </a:xfrm>
          <a:prstGeom prst="rect">
            <a:avLst/>
          </a:prstGeom>
          <a:ln>
            <a:headEnd type="none"/>
            <a:tailEnd type="none"/>
          </a:ln>
        </p:spPr>
        <p:txBody>
          <a:bodyPr vert="horz" wrap="square" lIns="0" tIns="0" rIns="0" bIns="0" rtlCol="0" anchor="t" anchorCtr="0"/>
          <a:lstStyle/>
          <a:p>
            <a:pPr algn="l">
              <a:defRPr/>
            </a:pPr>
            <a:r>
              <a:rPr lang="en-US" sz="13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灵活合作模式</a:t>
            </a:r>
            <a:endParaRPr lang="en-US" sz="1100"/>
          </a:p>
        </p:txBody>
      </p:sp>
      <p:sp>
        <p:nvSpPr>
          <p:cNvPr id="21" name="TextBox 21"/>
          <p:cNvSpPr txBox="1"/>
          <p:nvPr/>
        </p:nvSpPr>
        <p:spPr>
          <a:xfrm>
            <a:off x="8363984" y="4040981"/>
            <a:ext cx="3367734"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为系统集成商提供三维可视化专项分包，为项目</a:t>
            </a:r>
            <a:endParaRPr lang="en-US" sz="1100"/>
          </a:p>
          <a:p>
            <a:pPr algn="l"/>
            <a:r>
              <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总包方提供数字孪生技术支持与联合投标</a:t>
            </a:r>
            <a:endPar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2" name="TextBox 22"/>
          <p:cNvSpPr txBox="1"/>
          <p:nvPr/>
        </p:nvSpPr>
        <p:spPr>
          <a:xfrm>
            <a:off x="8363984" y="4574381"/>
            <a:ext cx="3367734"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提供定制开发与持续迭代服务，适配从原型验证</a:t>
            </a:r>
            <a:endParaRPr lang="en-US" sz="1100"/>
          </a:p>
          <a:p>
            <a:pPr algn="l"/>
            <a:r>
              <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rPr>
              <a:t>到大规模部署的不同阶段需求</a:t>
            </a:r>
            <a:endParaRPr sz="1100" b="0" i="0" strike="noStrike">
              <a:solidFill>
                <a:srgbClr val="0A1F3D">
                  <a:alpha val="85098"/>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3" name="AutoShape 23"/>
          <p:cNvSpPr/>
          <p:nvPr/>
        </p:nvSpPr>
        <p:spPr>
          <a:xfrm>
            <a:off x="457086" y="5915025"/>
            <a:ext cx="9522" cy="485775"/>
          </a:xfrm>
          <a:prstGeom prst="line">
            <a:avLst/>
          </a:prstGeom>
          <a:ln w="19050">
            <a:solidFill>
              <a:srgbClr val="5B8CB8">
                <a:alpha val="100000"/>
              </a:srgbClr>
            </a:solidFill>
            <a:prstDash val="solid"/>
            <a:headEnd type="none"/>
            <a:tailEnd type="none"/>
          </a:ln>
        </p:spPr>
      </p:sp>
      <p:sp>
        <p:nvSpPr>
          <p:cNvPr id="24" name="TextBox 24"/>
          <p:cNvSpPr txBox="1"/>
          <p:nvPr/>
        </p:nvSpPr>
        <p:spPr>
          <a:xfrm>
            <a:off x="628493" y="5953125"/>
            <a:ext cx="11560459"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0000"/>
                  </a:srgbClr>
                </a:solidFill>
                <a:latin typeface="Alibaba PuHuiTi 3.0 55 Regular" panose="00020600040101010101" charset="-122"/>
                <a:ea typeface="Alibaba PuHuiTi 3.0 55 Regular" panose="00020600040101010101" charset="-122"/>
                <a:cs typeface="Alibaba PuHuiTi 3.0 55 Regular" panose="00020600040101010101" charset="-122"/>
              </a:rPr>
              <a:t>我们提供覆盖园区、工厂、能源、水务等多元场景的数字孪生系统开发服务，具备从三维场景搭建、Web 3D可视化、真实数据接入到告警联动的完整落地能力，支持PC、大</a:t>
            </a:r>
            <a:endParaRPr lang="en-US" sz="1100"/>
          </a:p>
          <a:p>
            <a:pPr algn="l"/>
            <a:r>
              <a:rPr sz="1100" b="0" i="0" strike="noStrike">
                <a:solidFill>
                  <a:srgbClr val="0A1F3D">
                    <a:alpha val="80000"/>
                  </a:srgbClr>
                </a:solidFill>
                <a:latin typeface="Alibaba PuHuiTi 3.0 55 Regular" panose="00020600040101010101" charset="-122"/>
                <a:ea typeface="Alibaba PuHuiTi 3.0 55 Regular" panose="00020600040101010101" charset="-122"/>
                <a:cs typeface="Alibaba PuHuiTi 3.0 55 Regular" panose="00020600040101010101" charset="-122"/>
              </a:rPr>
              <a:t>屏、浏览器端多终端部署，适配从原型验证到大规模部署的全生命周期需求。</a:t>
            </a:r>
            <a:endParaRPr sz="1100" b="0" i="0" strike="noStrike">
              <a:solidFill>
                <a:srgbClr val="0A1F3D">
                  <a:alpha val="80000"/>
                </a:srgbClr>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Alibaba PuHuiTi 3.0 55 Regular" panose="00020600040101010101" charset="-122"/>
                <a:ea typeface="Alibaba PuHuiTi 3.0 55 Regular" panose="00020600040101010101" charset="-122"/>
                <a:cs typeface="Alibaba PuHuiTi 3.0 55 Regular" panose="00020600040101010101" charset="-122"/>
              </a:rPr>
              <a:t>Core Assets</a:t>
            </a:r>
            <a:endParaRPr lang="en-US" sz="1100"/>
          </a:p>
        </p:txBody>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核心资产：开源生态与AI三维编辑器</a:t>
            </a:r>
            <a:endParaRPr lang="en-US" sz="1100"/>
          </a:p>
        </p:txBody>
      </p:sp>
      <p:sp>
        <p:nvSpPr>
          <p:cNvPr id="5" name="AutoShape 5"/>
          <p:cNvSpPr/>
          <p:nvPr/>
        </p:nvSpPr>
        <p:spPr>
          <a:xfrm>
            <a:off x="457086" y="1352550"/>
            <a:ext cx="9522" cy="517923"/>
          </a:xfrm>
          <a:prstGeom prst="line">
            <a:avLst/>
          </a:prstGeom>
          <a:ln w="28575">
            <a:solidFill>
              <a:srgbClr val="5B8CB8">
                <a:alpha val="100000"/>
              </a:srgbClr>
            </a:solidFill>
            <a:prstDash val="solid"/>
            <a:headEnd type="none"/>
            <a:tailEnd type="none"/>
          </a:ln>
        </p:spPr>
      </p:sp>
      <p:sp>
        <p:nvSpPr>
          <p:cNvPr id="6" name="TextBox 6"/>
          <p:cNvSpPr txBox="1"/>
          <p:nvPr/>
        </p:nvSpPr>
        <p:spPr>
          <a:xfrm>
            <a:off x="676106" y="1400175"/>
            <a:ext cx="11512846" cy="42088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团队长期深耕Web3D开源生态，拥有国内首款开源AI三维可视化数字孪生编辑器及开源案例库，在GitHub Web3D相关领域具备较强公开影响力，形成公开可验证的</a:t>
            </a:r>
            <a:endParaRPr lang="en-US" sz="1100"/>
          </a:p>
          <a:p>
            <a:pPr algn="l"/>
            <a:r>
              <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独特能力证明机制。</a:t>
            </a:r>
            <a:endParaRPr sz="12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7" name="AutoShape 7"/>
          <p:cNvSpPr/>
          <p:nvPr/>
        </p:nvSpPr>
        <p:spPr>
          <a:xfrm>
            <a:off x="457086" y="2175273"/>
            <a:ext cx="5561209" cy="1064716"/>
          </a:xfrm>
          <a:prstGeom prst="rect">
            <a:avLst/>
          </a:prstGeom>
          <a:solidFill>
            <a:srgbClr val="E8EBEF">
              <a:alpha val="100000"/>
            </a:srgbClr>
          </a:solidFill>
          <a:ln w="9525">
            <a:solidFill>
              <a:srgbClr val="C5CDD6">
                <a:alpha val="100000"/>
              </a:srgbClr>
            </a:solidFill>
            <a:prstDash val="solid"/>
            <a:headEnd type="none"/>
            <a:tailEnd type="none"/>
          </a:ln>
        </p:spPr>
      </p:sp>
      <p:sp>
        <p:nvSpPr>
          <p:cNvPr id="8" name="AutoShape 8"/>
          <p:cNvSpPr/>
          <p:nvPr/>
        </p:nvSpPr>
        <p:spPr>
          <a:xfrm>
            <a:off x="457086" y="2175273"/>
            <a:ext cx="5561209" cy="9525"/>
          </a:xfrm>
          <a:prstGeom prst="line">
            <a:avLst/>
          </a:prstGeom>
          <a:ln w="19050">
            <a:solidFill>
              <a:srgbClr val="5B8CB8">
                <a:alpha val="100000"/>
              </a:srgbClr>
            </a:solidFill>
            <a:prstDash val="solid"/>
            <a:headEnd type="none"/>
            <a:tailEnd type="none"/>
          </a:ln>
        </p:spPr>
      </p:sp>
      <p:sp>
        <p:nvSpPr>
          <p:cNvPr id="9" name="AutoShape 9"/>
          <p:cNvSpPr/>
          <p:nvPr/>
        </p:nvSpPr>
        <p:spPr>
          <a:xfrm>
            <a:off x="602083" y="2384823"/>
            <a:ext cx="152362" cy="152400"/>
          </a:xfrm>
          <a:custGeom>
            <a:avLst/>
            <a:gdLst/>
            <a:ahLst/>
            <a:cxnLst/>
            <a:rect l="l" t="t" r="r" b="b"/>
            <a:pathLst>
              <a:path w="9998" h="10000">
                <a:moveTo>
                  <a:pt x="1722" y="8241"/>
                </a:moveTo>
                <a:cubicBezTo>
                  <a:pt x="1568" y="8152"/>
                  <a:pt x="1404" y="8012"/>
                  <a:pt x="1228" y="7822"/>
                </a:cubicBezTo>
                <a:lnTo>
                  <a:pt x="964" y="7546"/>
                </a:lnTo>
                <a:cubicBezTo>
                  <a:pt x="948" y="7518"/>
                  <a:pt x="945" y="7512"/>
                  <a:pt x="953" y="7526"/>
                </a:cubicBezTo>
                <a:cubicBezTo>
                  <a:pt x="823" y="7382"/>
                  <a:pt x="712" y="7273"/>
                  <a:pt x="620" y="7198"/>
                </a:cubicBezTo>
                <a:cubicBezTo>
                  <a:pt x="528" y="7123"/>
                  <a:pt x="440" y="7072"/>
                  <a:pt x="356" y="7045"/>
                </a:cubicBezTo>
                <a:cubicBezTo>
                  <a:pt x="202" y="6997"/>
                  <a:pt x="91" y="6908"/>
                  <a:pt x="23" y="6779"/>
                </a:cubicBezTo>
                <a:cubicBezTo>
                  <a:pt x="-45" y="6649"/>
                  <a:pt x="-53" y="6518"/>
                  <a:pt x="0" y="6385"/>
                </a:cubicBezTo>
                <a:cubicBezTo>
                  <a:pt x="53" y="6252"/>
                  <a:pt x="152" y="6157"/>
                  <a:pt x="298" y="6099"/>
                </a:cubicBezTo>
                <a:cubicBezTo>
                  <a:pt x="444" y="6041"/>
                  <a:pt x="589" y="6036"/>
                  <a:pt x="735" y="6084"/>
                </a:cubicBezTo>
                <a:cubicBezTo>
                  <a:pt x="949" y="6145"/>
                  <a:pt x="1140" y="6240"/>
                  <a:pt x="1309" y="6370"/>
                </a:cubicBezTo>
                <a:cubicBezTo>
                  <a:pt x="1469" y="6492"/>
                  <a:pt x="1653" y="6666"/>
                  <a:pt x="1860" y="6892"/>
                </a:cubicBezTo>
                <a:cubicBezTo>
                  <a:pt x="1844" y="6878"/>
                  <a:pt x="1844" y="6881"/>
                  <a:pt x="1860" y="6902"/>
                </a:cubicBezTo>
                <a:lnTo>
                  <a:pt x="2101" y="7168"/>
                </a:lnTo>
                <a:cubicBezTo>
                  <a:pt x="2207" y="7276"/>
                  <a:pt x="2291" y="7351"/>
                  <a:pt x="2353" y="7393"/>
                </a:cubicBezTo>
                <a:cubicBezTo>
                  <a:pt x="2483" y="7467"/>
                  <a:pt x="2705" y="7491"/>
                  <a:pt x="3019" y="7464"/>
                </a:cubicBezTo>
                <a:cubicBezTo>
                  <a:pt x="3034" y="7273"/>
                  <a:pt x="3072" y="7086"/>
                  <a:pt x="3134" y="6902"/>
                </a:cubicBezTo>
                <a:cubicBezTo>
                  <a:pt x="2254" y="6711"/>
                  <a:pt x="1595" y="6360"/>
                  <a:pt x="1159" y="5849"/>
                </a:cubicBezTo>
                <a:cubicBezTo>
                  <a:pt x="700" y="5310"/>
                  <a:pt x="471" y="4570"/>
                  <a:pt x="471" y="3630"/>
                </a:cubicBezTo>
                <a:cubicBezTo>
                  <a:pt x="471" y="3002"/>
                  <a:pt x="670" y="2443"/>
                  <a:pt x="1068" y="1953"/>
                </a:cubicBezTo>
                <a:cubicBezTo>
                  <a:pt x="930" y="1435"/>
                  <a:pt x="991" y="889"/>
                  <a:pt x="1251" y="317"/>
                </a:cubicBezTo>
                <a:cubicBezTo>
                  <a:pt x="1312" y="167"/>
                  <a:pt x="1431" y="68"/>
                  <a:pt x="1607" y="20"/>
                </a:cubicBezTo>
                <a:cubicBezTo>
                  <a:pt x="1645" y="13"/>
                  <a:pt x="1683" y="6"/>
                  <a:pt x="1722" y="0"/>
                </a:cubicBezTo>
                <a:cubicBezTo>
                  <a:pt x="1966" y="-34"/>
                  <a:pt x="2246" y="-10"/>
                  <a:pt x="2560" y="72"/>
                </a:cubicBezTo>
                <a:cubicBezTo>
                  <a:pt x="2904" y="167"/>
                  <a:pt x="3279" y="330"/>
                  <a:pt x="3685" y="562"/>
                </a:cubicBezTo>
                <a:cubicBezTo>
                  <a:pt x="4189" y="453"/>
                  <a:pt x="4706" y="399"/>
                  <a:pt x="5234" y="399"/>
                </a:cubicBezTo>
                <a:cubicBezTo>
                  <a:pt x="5762" y="399"/>
                  <a:pt x="6274" y="453"/>
                  <a:pt x="6772" y="562"/>
                </a:cubicBezTo>
                <a:cubicBezTo>
                  <a:pt x="7178" y="330"/>
                  <a:pt x="7553" y="167"/>
                  <a:pt x="7897" y="72"/>
                </a:cubicBezTo>
                <a:cubicBezTo>
                  <a:pt x="8211" y="-10"/>
                  <a:pt x="8490" y="-34"/>
                  <a:pt x="8735" y="0"/>
                </a:cubicBezTo>
                <a:cubicBezTo>
                  <a:pt x="8781" y="6"/>
                  <a:pt x="8823" y="13"/>
                  <a:pt x="8862" y="20"/>
                </a:cubicBezTo>
                <a:cubicBezTo>
                  <a:pt x="9030" y="74"/>
                  <a:pt x="9148" y="173"/>
                  <a:pt x="9217" y="317"/>
                </a:cubicBezTo>
                <a:cubicBezTo>
                  <a:pt x="9469" y="889"/>
                  <a:pt x="9527" y="1435"/>
                  <a:pt x="9390" y="1953"/>
                </a:cubicBezTo>
                <a:cubicBezTo>
                  <a:pt x="9795" y="2437"/>
                  <a:pt x="9998" y="2996"/>
                  <a:pt x="9998" y="3630"/>
                </a:cubicBezTo>
                <a:cubicBezTo>
                  <a:pt x="9998" y="4570"/>
                  <a:pt x="9764" y="5310"/>
                  <a:pt x="9298" y="5849"/>
                </a:cubicBezTo>
                <a:cubicBezTo>
                  <a:pt x="8862" y="6360"/>
                  <a:pt x="8203" y="6711"/>
                  <a:pt x="7323" y="6902"/>
                </a:cubicBezTo>
                <a:cubicBezTo>
                  <a:pt x="7399" y="7120"/>
                  <a:pt x="7438" y="7355"/>
                  <a:pt x="7438" y="7607"/>
                </a:cubicBezTo>
                <a:lnTo>
                  <a:pt x="7427" y="8998"/>
                </a:lnTo>
                <a:cubicBezTo>
                  <a:pt x="7541" y="9018"/>
                  <a:pt x="7639" y="9064"/>
                  <a:pt x="7719" y="9136"/>
                </a:cubicBezTo>
                <a:cubicBezTo>
                  <a:pt x="7799" y="9207"/>
                  <a:pt x="7851" y="9294"/>
                  <a:pt x="7874" y="9397"/>
                </a:cubicBezTo>
                <a:cubicBezTo>
                  <a:pt x="7904" y="9533"/>
                  <a:pt x="7876" y="9660"/>
                  <a:pt x="7788" y="9780"/>
                </a:cubicBezTo>
                <a:cubicBezTo>
                  <a:pt x="7700" y="9899"/>
                  <a:pt x="7575" y="9972"/>
                  <a:pt x="7415" y="10000"/>
                </a:cubicBezTo>
                <a:cubicBezTo>
                  <a:pt x="7208" y="10034"/>
                  <a:pt x="7017" y="10020"/>
                  <a:pt x="6841" y="9959"/>
                </a:cubicBezTo>
                <a:cubicBezTo>
                  <a:pt x="6665" y="9897"/>
                  <a:pt x="6527" y="9800"/>
                  <a:pt x="6428" y="9668"/>
                </a:cubicBezTo>
                <a:cubicBezTo>
                  <a:pt x="6328" y="9534"/>
                  <a:pt x="6279" y="9383"/>
                  <a:pt x="6279" y="9213"/>
                </a:cubicBezTo>
                <a:lnTo>
                  <a:pt x="6290" y="7607"/>
                </a:lnTo>
                <a:cubicBezTo>
                  <a:pt x="6290" y="7437"/>
                  <a:pt x="6267" y="7292"/>
                  <a:pt x="6221" y="7173"/>
                </a:cubicBezTo>
                <a:cubicBezTo>
                  <a:pt x="6175" y="7053"/>
                  <a:pt x="6118" y="6966"/>
                  <a:pt x="6049" y="6912"/>
                </a:cubicBezTo>
                <a:cubicBezTo>
                  <a:pt x="5927" y="6816"/>
                  <a:pt x="5860" y="6700"/>
                  <a:pt x="5848" y="6564"/>
                </a:cubicBezTo>
                <a:cubicBezTo>
                  <a:pt x="5836" y="6428"/>
                  <a:pt x="5879" y="6307"/>
                  <a:pt x="5975" y="6201"/>
                </a:cubicBezTo>
                <a:cubicBezTo>
                  <a:pt x="6070" y="6095"/>
                  <a:pt x="6198" y="6032"/>
                  <a:pt x="6359" y="6012"/>
                </a:cubicBezTo>
                <a:cubicBezTo>
                  <a:pt x="6941" y="5957"/>
                  <a:pt x="7408" y="5848"/>
                  <a:pt x="7760" y="5685"/>
                </a:cubicBezTo>
                <a:cubicBezTo>
                  <a:pt x="8127" y="5507"/>
                  <a:pt x="8400" y="5255"/>
                  <a:pt x="8580" y="4928"/>
                </a:cubicBezTo>
                <a:cubicBezTo>
                  <a:pt x="8760" y="4601"/>
                  <a:pt x="8850" y="4168"/>
                  <a:pt x="8850" y="3630"/>
                </a:cubicBezTo>
                <a:cubicBezTo>
                  <a:pt x="8850" y="3152"/>
                  <a:pt x="8674" y="2743"/>
                  <a:pt x="8322" y="2403"/>
                </a:cubicBezTo>
                <a:cubicBezTo>
                  <a:pt x="8245" y="2335"/>
                  <a:pt x="8197" y="2251"/>
                  <a:pt x="8179" y="2152"/>
                </a:cubicBezTo>
                <a:cubicBezTo>
                  <a:pt x="8159" y="2053"/>
                  <a:pt x="8169" y="1959"/>
                  <a:pt x="8207" y="1871"/>
                </a:cubicBezTo>
                <a:cubicBezTo>
                  <a:pt x="8321" y="1625"/>
                  <a:pt x="8341" y="1349"/>
                  <a:pt x="8265" y="1043"/>
                </a:cubicBezTo>
                <a:cubicBezTo>
                  <a:pt x="7959" y="1125"/>
                  <a:pt x="7603" y="1288"/>
                  <a:pt x="7197" y="1534"/>
                </a:cubicBezTo>
                <a:cubicBezTo>
                  <a:pt x="7051" y="1622"/>
                  <a:pt x="6891" y="1646"/>
                  <a:pt x="6715" y="1605"/>
                </a:cubicBezTo>
                <a:cubicBezTo>
                  <a:pt x="6240" y="1482"/>
                  <a:pt x="5745" y="1421"/>
                  <a:pt x="5229" y="1421"/>
                </a:cubicBezTo>
                <a:cubicBezTo>
                  <a:pt x="4712" y="1421"/>
                  <a:pt x="4216" y="1482"/>
                  <a:pt x="3742" y="1605"/>
                </a:cubicBezTo>
                <a:cubicBezTo>
                  <a:pt x="3574" y="1646"/>
                  <a:pt x="3413" y="1622"/>
                  <a:pt x="3260" y="1534"/>
                </a:cubicBezTo>
                <a:cubicBezTo>
                  <a:pt x="2854" y="1288"/>
                  <a:pt x="2498" y="1128"/>
                  <a:pt x="2192" y="1053"/>
                </a:cubicBezTo>
                <a:cubicBezTo>
                  <a:pt x="2116" y="1353"/>
                  <a:pt x="2135" y="1625"/>
                  <a:pt x="2250" y="1871"/>
                </a:cubicBezTo>
                <a:cubicBezTo>
                  <a:pt x="2288" y="1959"/>
                  <a:pt x="2297" y="2053"/>
                  <a:pt x="2279" y="2152"/>
                </a:cubicBezTo>
                <a:cubicBezTo>
                  <a:pt x="2259" y="2251"/>
                  <a:pt x="2211" y="2335"/>
                  <a:pt x="2135" y="2403"/>
                </a:cubicBezTo>
                <a:cubicBezTo>
                  <a:pt x="1791" y="2743"/>
                  <a:pt x="1619" y="3152"/>
                  <a:pt x="1619" y="3630"/>
                </a:cubicBezTo>
                <a:cubicBezTo>
                  <a:pt x="1619" y="4168"/>
                  <a:pt x="1707" y="4601"/>
                  <a:pt x="1883" y="4928"/>
                </a:cubicBezTo>
                <a:cubicBezTo>
                  <a:pt x="2059" y="5255"/>
                  <a:pt x="2330" y="5507"/>
                  <a:pt x="2698" y="5685"/>
                </a:cubicBezTo>
                <a:cubicBezTo>
                  <a:pt x="3042" y="5848"/>
                  <a:pt x="3508" y="5957"/>
                  <a:pt x="4098" y="6012"/>
                </a:cubicBezTo>
                <a:cubicBezTo>
                  <a:pt x="4258" y="6032"/>
                  <a:pt x="4385" y="6095"/>
                  <a:pt x="4477" y="6201"/>
                </a:cubicBezTo>
                <a:cubicBezTo>
                  <a:pt x="4568" y="6307"/>
                  <a:pt x="4610" y="6428"/>
                  <a:pt x="4603" y="6564"/>
                </a:cubicBezTo>
                <a:cubicBezTo>
                  <a:pt x="4595" y="6700"/>
                  <a:pt x="4530" y="6816"/>
                  <a:pt x="4408" y="6912"/>
                </a:cubicBezTo>
                <a:cubicBezTo>
                  <a:pt x="4346" y="6960"/>
                  <a:pt x="4293" y="7045"/>
                  <a:pt x="4247" y="7168"/>
                </a:cubicBezTo>
                <a:cubicBezTo>
                  <a:pt x="4185" y="7310"/>
                  <a:pt x="4155" y="7457"/>
                  <a:pt x="4155" y="7607"/>
                </a:cubicBezTo>
                <a:lnTo>
                  <a:pt x="4155" y="9213"/>
                </a:lnTo>
                <a:cubicBezTo>
                  <a:pt x="4155" y="9383"/>
                  <a:pt x="4107" y="9534"/>
                  <a:pt x="4012" y="9668"/>
                </a:cubicBezTo>
                <a:cubicBezTo>
                  <a:pt x="3916" y="9800"/>
                  <a:pt x="3782" y="9897"/>
                  <a:pt x="3610" y="9959"/>
                </a:cubicBezTo>
                <a:cubicBezTo>
                  <a:pt x="3438" y="10020"/>
                  <a:pt x="3244" y="10034"/>
                  <a:pt x="3030" y="10000"/>
                </a:cubicBezTo>
                <a:cubicBezTo>
                  <a:pt x="2877" y="9972"/>
                  <a:pt x="2755" y="9901"/>
                  <a:pt x="2663" y="9785"/>
                </a:cubicBezTo>
                <a:cubicBezTo>
                  <a:pt x="2571" y="9669"/>
                  <a:pt x="2540" y="9543"/>
                  <a:pt x="2571" y="9407"/>
                </a:cubicBezTo>
                <a:cubicBezTo>
                  <a:pt x="2586" y="9305"/>
                  <a:pt x="2636" y="9216"/>
                  <a:pt x="2720" y="9141"/>
                </a:cubicBezTo>
                <a:cubicBezTo>
                  <a:pt x="2804" y="9066"/>
                  <a:pt x="2900" y="9018"/>
                  <a:pt x="3007" y="8998"/>
                </a:cubicBezTo>
                <a:lnTo>
                  <a:pt x="3007" y="8487"/>
                </a:lnTo>
                <a:cubicBezTo>
                  <a:pt x="2479" y="8521"/>
                  <a:pt x="2050" y="8439"/>
                  <a:pt x="1722" y="8241"/>
                </a:cubicBezTo>
              </a:path>
            </a:pathLst>
          </a:custGeom>
          <a:solidFill>
            <a:srgbClr val="5B8CB8">
              <a:alpha val="100000"/>
            </a:srgbClr>
          </a:solidFill>
          <a:ln>
            <a:headEnd type="none"/>
            <a:tailEnd type="none"/>
          </a:ln>
        </p:spPr>
      </p:sp>
      <p:sp>
        <p:nvSpPr>
          <p:cNvPr id="10" name="TextBox 10"/>
          <p:cNvSpPr txBox="1"/>
          <p:nvPr/>
        </p:nvSpPr>
        <p:spPr>
          <a:xfrm>
            <a:off x="813737" y="2387202"/>
            <a:ext cx="647537" cy="142875"/>
          </a:xfrm>
          <a:prstGeom prst="rect">
            <a:avLst/>
          </a:prstGeom>
          <a:ln>
            <a:headEnd type="none"/>
            <a:tailEnd type="none"/>
          </a:ln>
        </p:spPr>
        <p:txBody>
          <a:bodyPr vert="horz" wrap="square" lIns="0" tIns="0" rIns="0" bIns="0" rtlCol="0" anchor="t" anchorCtr="0"/>
          <a:lstStyle/>
          <a:p>
            <a:pPr algn="l">
              <a:defRPr/>
            </a:pPr>
            <a:r>
              <a:rPr lang="en-US" sz="900" b="1" i="0" strike="noStrike">
                <a:solidFill>
                  <a:srgbClr val="5B8CB8">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开源案例库</a:t>
            </a:r>
            <a:endParaRPr lang="en-US" sz="1100"/>
          </a:p>
        </p:txBody>
      </p:sp>
      <p:sp>
        <p:nvSpPr>
          <p:cNvPr id="11" name="TextBox 11"/>
          <p:cNvSpPr txBox="1"/>
          <p:nvPr/>
        </p:nvSpPr>
        <p:spPr>
          <a:xfrm>
            <a:off x="618970" y="2680096"/>
            <a:ext cx="5399325"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three-cesium-examples覆盖Three.js、Cesium.js与Web 3D方向，作为客户沟通、方案演</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示、技术预演和原型参考的能力底座</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6170657" y="2175273"/>
            <a:ext cx="5561209" cy="1064716"/>
          </a:xfrm>
          <a:prstGeom prst="rect">
            <a:avLst/>
          </a:prstGeom>
          <a:solidFill>
            <a:srgbClr val="E8EBEF">
              <a:alpha val="100000"/>
            </a:srgbClr>
          </a:solidFill>
          <a:ln w="9525">
            <a:solidFill>
              <a:srgbClr val="C5CDD6">
                <a:alpha val="100000"/>
              </a:srgbClr>
            </a:solidFill>
            <a:prstDash val="solid"/>
            <a:headEnd type="none"/>
            <a:tailEnd type="none"/>
          </a:ln>
        </p:spPr>
      </p:sp>
      <p:sp>
        <p:nvSpPr>
          <p:cNvPr id="13" name="AutoShape 13"/>
          <p:cNvSpPr/>
          <p:nvPr/>
        </p:nvSpPr>
        <p:spPr>
          <a:xfrm>
            <a:off x="6170657" y="2175273"/>
            <a:ext cx="5561209" cy="9525"/>
          </a:xfrm>
          <a:prstGeom prst="line">
            <a:avLst/>
          </a:prstGeom>
          <a:ln w="19050">
            <a:solidFill>
              <a:srgbClr val="5B8CB8">
                <a:alpha val="100000"/>
              </a:srgbClr>
            </a:solidFill>
            <a:prstDash val="solid"/>
            <a:headEnd type="none"/>
            <a:tailEnd type="none"/>
          </a:ln>
        </p:spPr>
      </p:sp>
      <p:sp>
        <p:nvSpPr>
          <p:cNvPr id="14" name="AutoShape 14"/>
          <p:cNvSpPr/>
          <p:nvPr/>
        </p:nvSpPr>
        <p:spPr>
          <a:xfrm>
            <a:off x="6315654" y="2384823"/>
            <a:ext cx="152362" cy="152400"/>
          </a:xfrm>
          <a:custGeom>
            <a:avLst/>
            <a:gdLst/>
            <a:ahLst/>
            <a:cxnLst/>
            <a:rect l="l" t="t" r="r" b="b"/>
            <a:pathLst>
              <a:path w="9998" h="10000">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7229" y="3033"/>
                </a:moveTo>
                <a:lnTo>
                  <a:pt x="8998" y="5000"/>
                </a:lnTo>
                <a:lnTo>
                  <a:pt x="7229" y="6967"/>
                </a:lnTo>
                <a:lnTo>
                  <a:pt x="6529" y="6178"/>
                </a:lnTo>
                <a:lnTo>
                  <a:pt x="7588" y="5000"/>
                </a:lnTo>
                <a:lnTo>
                  <a:pt x="6529" y="3822"/>
                </a:lnTo>
                <a:lnTo>
                  <a:pt x="7229" y="3033"/>
                </a:lnTo>
                <a:moveTo>
                  <a:pt x="3469" y="3822"/>
                </a:moveTo>
                <a:lnTo>
                  <a:pt x="2410" y="5000"/>
                </a:lnTo>
                <a:lnTo>
                  <a:pt x="3469" y="6178"/>
                </a:lnTo>
                <a:lnTo>
                  <a:pt x="2769" y="6967"/>
                </a:lnTo>
                <a:lnTo>
                  <a:pt x="1000" y="5000"/>
                </a:lnTo>
                <a:lnTo>
                  <a:pt x="2769" y="3033"/>
                </a:lnTo>
                <a:lnTo>
                  <a:pt x="3469" y="3822"/>
                </a:lnTo>
                <a:moveTo>
                  <a:pt x="6439" y="2222"/>
                </a:moveTo>
                <a:lnTo>
                  <a:pt x="4619" y="7778"/>
                </a:lnTo>
                <a:lnTo>
                  <a:pt x="3559" y="7778"/>
                </a:lnTo>
                <a:lnTo>
                  <a:pt x="5379" y="2222"/>
                </a:lnTo>
              </a:path>
            </a:pathLst>
          </a:custGeom>
          <a:solidFill>
            <a:srgbClr val="5B8CB8">
              <a:alpha val="100000"/>
            </a:srgbClr>
          </a:solidFill>
          <a:ln>
            <a:headEnd type="none"/>
            <a:tailEnd type="none"/>
          </a:ln>
        </p:spPr>
      </p:sp>
      <p:sp>
        <p:nvSpPr>
          <p:cNvPr id="15" name="TextBox 15"/>
          <p:cNvSpPr txBox="1"/>
          <p:nvPr/>
        </p:nvSpPr>
        <p:spPr>
          <a:xfrm>
            <a:off x="6527309" y="2387202"/>
            <a:ext cx="771332" cy="142875"/>
          </a:xfrm>
          <a:prstGeom prst="rect">
            <a:avLst/>
          </a:prstGeom>
          <a:ln>
            <a:headEnd type="none"/>
            <a:tailEnd type="none"/>
          </a:ln>
        </p:spPr>
        <p:txBody>
          <a:bodyPr vert="horz" wrap="square" lIns="0" tIns="0" rIns="0" bIns="0" rtlCol="0" anchor="t" anchorCtr="0"/>
          <a:lstStyle/>
          <a:p>
            <a:pPr algn="l">
              <a:defRPr/>
            </a:pPr>
            <a:r>
              <a:rPr lang="en-US" sz="900" b="1" i="0" strike="noStrike">
                <a:solidFill>
                  <a:srgbClr val="5B8CB8">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AI三维编辑器</a:t>
            </a:r>
            <a:endParaRPr lang="en-US" sz="1100"/>
          </a:p>
        </p:txBody>
      </p:sp>
      <p:sp>
        <p:nvSpPr>
          <p:cNvPr id="16" name="TextBox 16"/>
          <p:cNvSpPr txBox="1"/>
          <p:nvPr/>
        </p:nvSpPr>
        <p:spPr>
          <a:xfrm>
            <a:off x="6332541" y="2680096"/>
            <a:ext cx="5399325"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国内首款开源AI三维编辑器three-editor，具备开源、高效、易用、高扩展、低成本和快速</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搭建项目的特点</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7" name="AutoShape 17"/>
          <p:cNvSpPr/>
          <p:nvPr/>
        </p:nvSpPr>
        <p:spPr>
          <a:xfrm>
            <a:off x="457086" y="3392388"/>
            <a:ext cx="5561209" cy="1021853"/>
          </a:xfrm>
          <a:prstGeom prst="rect">
            <a:avLst/>
          </a:prstGeom>
          <a:solidFill>
            <a:srgbClr val="E8EBEF">
              <a:alpha val="100000"/>
            </a:srgbClr>
          </a:solidFill>
          <a:ln w="9525">
            <a:solidFill>
              <a:srgbClr val="C5CDD6">
                <a:alpha val="100000"/>
              </a:srgbClr>
            </a:solidFill>
            <a:prstDash val="solid"/>
            <a:headEnd type="none"/>
            <a:tailEnd type="none"/>
          </a:ln>
        </p:spPr>
      </p:sp>
      <p:sp>
        <p:nvSpPr>
          <p:cNvPr id="18" name="AutoShape 18"/>
          <p:cNvSpPr/>
          <p:nvPr/>
        </p:nvSpPr>
        <p:spPr>
          <a:xfrm>
            <a:off x="457086" y="3392388"/>
            <a:ext cx="5561209" cy="9525"/>
          </a:xfrm>
          <a:prstGeom prst="line">
            <a:avLst/>
          </a:prstGeom>
          <a:ln w="19050">
            <a:solidFill>
              <a:srgbClr val="5B8CB8">
                <a:alpha val="100000"/>
              </a:srgbClr>
            </a:solidFill>
            <a:prstDash val="solid"/>
            <a:headEnd type="none"/>
            <a:tailEnd type="none"/>
          </a:ln>
        </p:spPr>
      </p:sp>
      <p:sp>
        <p:nvSpPr>
          <p:cNvPr id="19" name="TextBox 19"/>
          <p:cNvSpPr txBox="1"/>
          <p:nvPr/>
        </p:nvSpPr>
        <p:spPr>
          <a:xfrm>
            <a:off x="695151" y="3582888"/>
            <a:ext cx="771332" cy="142875"/>
          </a:xfrm>
          <a:prstGeom prst="rect">
            <a:avLst/>
          </a:prstGeom>
          <a:ln>
            <a:headEnd type="none"/>
            <a:tailEnd type="none"/>
          </a:ln>
        </p:spPr>
        <p:txBody>
          <a:bodyPr vert="horz" wrap="square" lIns="0" tIns="0" rIns="0" bIns="0" rtlCol="0" anchor="t" anchorCtr="0"/>
          <a:lstStyle/>
          <a:p>
            <a:pPr algn="l">
              <a:defRPr/>
            </a:pPr>
            <a:r>
              <a:rPr lang="en-US" sz="900" b="1" i="0" strike="noStrike">
                <a:solidFill>
                  <a:srgbClr val="5B8CB8">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开源技术组织</a:t>
            </a:r>
            <a:endParaRPr lang="en-US" sz="1100"/>
          </a:p>
        </p:txBody>
      </p:sp>
      <p:sp>
        <p:nvSpPr>
          <p:cNvPr id="20" name="TextBox 20"/>
          <p:cNvSpPr txBox="1"/>
          <p:nvPr/>
        </p:nvSpPr>
        <p:spPr>
          <a:xfrm>
            <a:off x="618970" y="3854351"/>
            <a:ext cx="5399325" cy="365671"/>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openThree在GitHub Web3D相关领域具备较强的公开影响力和技术资源连接能力，形成</a:t>
            </a:r>
            <a:endParaRPr lang="en-US" sz="1100"/>
          </a:p>
          <a:p>
            <a:pPr algn="l"/>
            <a:r>
              <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持续的技术内容输出</a:t>
            </a:r>
            <a:endParaRPr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1" name="AutoShape 21"/>
          <p:cNvSpPr/>
          <p:nvPr/>
        </p:nvSpPr>
        <p:spPr>
          <a:xfrm>
            <a:off x="6170657" y="3392388"/>
            <a:ext cx="5561209" cy="1021853"/>
          </a:xfrm>
          <a:prstGeom prst="rect">
            <a:avLst/>
          </a:prstGeom>
          <a:solidFill>
            <a:srgbClr val="E8EBEF">
              <a:alpha val="100000"/>
            </a:srgbClr>
          </a:solidFill>
          <a:ln w="9525">
            <a:solidFill>
              <a:srgbClr val="C5CDD6">
                <a:alpha val="100000"/>
              </a:srgbClr>
            </a:solidFill>
            <a:prstDash val="solid"/>
            <a:headEnd type="none"/>
            <a:tailEnd type="none"/>
          </a:ln>
        </p:spPr>
      </p:sp>
      <p:sp>
        <p:nvSpPr>
          <p:cNvPr id="22" name="AutoShape 22"/>
          <p:cNvSpPr/>
          <p:nvPr/>
        </p:nvSpPr>
        <p:spPr>
          <a:xfrm>
            <a:off x="6170657" y="3392388"/>
            <a:ext cx="5561209" cy="9525"/>
          </a:xfrm>
          <a:prstGeom prst="line">
            <a:avLst/>
          </a:prstGeom>
          <a:ln w="19050">
            <a:solidFill>
              <a:srgbClr val="5B8CB8">
                <a:alpha val="100000"/>
              </a:srgbClr>
            </a:solidFill>
            <a:prstDash val="solid"/>
            <a:headEnd type="none"/>
            <a:tailEnd type="none"/>
          </a:ln>
        </p:spPr>
      </p:sp>
      <p:sp>
        <p:nvSpPr>
          <p:cNvPr id="23" name="AutoShape 23"/>
          <p:cNvSpPr/>
          <p:nvPr/>
        </p:nvSpPr>
        <p:spPr>
          <a:xfrm>
            <a:off x="6315654" y="3601938"/>
            <a:ext cx="152362" cy="152400"/>
          </a:xfrm>
          <a:custGeom>
            <a:avLst/>
            <a:gdLst/>
            <a:ahLst/>
            <a:cxnLst/>
            <a:rect l="l" t="t" r="r" b="b"/>
            <a:pathLst>
              <a:path w="9998" h="10000">
                <a:moveTo>
                  <a:pt x="433" y="827"/>
                </a:moveTo>
                <a:lnTo>
                  <a:pt x="4999" y="0"/>
                </a:lnTo>
                <a:lnTo>
                  <a:pt x="9565" y="827"/>
                </a:lnTo>
                <a:cubicBezTo>
                  <a:pt x="9691" y="851"/>
                  <a:pt x="9794" y="906"/>
                  <a:pt x="9876" y="991"/>
                </a:cubicBezTo>
                <a:cubicBezTo>
                  <a:pt x="9957" y="1075"/>
                  <a:pt x="9998" y="1169"/>
                  <a:pt x="9998" y="1273"/>
                </a:cubicBezTo>
                <a:lnTo>
                  <a:pt x="9998" y="5809"/>
                </a:lnTo>
                <a:cubicBezTo>
                  <a:pt x="9998" y="6269"/>
                  <a:pt x="9866" y="6700"/>
                  <a:pt x="9604" y="7100"/>
                </a:cubicBezTo>
                <a:cubicBezTo>
                  <a:pt x="9340" y="7500"/>
                  <a:pt x="8975" y="7827"/>
                  <a:pt x="8509" y="8082"/>
                </a:cubicBezTo>
                <a:lnTo>
                  <a:pt x="4999" y="10000"/>
                </a:lnTo>
                <a:lnTo>
                  <a:pt x="1489" y="8082"/>
                </a:lnTo>
                <a:cubicBezTo>
                  <a:pt x="1022" y="7827"/>
                  <a:pt x="657" y="7500"/>
                  <a:pt x="394" y="7100"/>
                </a:cubicBezTo>
                <a:cubicBezTo>
                  <a:pt x="131" y="6700"/>
                  <a:pt x="0" y="6269"/>
                  <a:pt x="0" y="5809"/>
                </a:cubicBezTo>
                <a:lnTo>
                  <a:pt x="0" y="1273"/>
                </a:lnTo>
                <a:cubicBezTo>
                  <a:pt x="0" y="1169"/>
                  <a:pt x="40" y="1075"/>
                  <a:pt x="122" y="991"/>
                </a:cubicBezTo>
                <a:cubicBezTo>
                  <a:pt x="203" y="906"/>
                  <a:pt x="307" y="851"/>
                  <a:pt x="433" y="827"/>
                </a:cubicBezTo>
                <a:moveTo>
                  <a:pt x="8887" y="1636"/>
                </a:moveTo>
                <a:lnTo>
                  <a:pt x="4999" y="927"/>
                </a:lnTo>
                <a:lnTo>
                  <a:pt x="1111" y="1636"/>
                </a:lnTo>
                <a:lnTo>
                  <a:pt x="1111" y="5809"/>
                </a:lnTo>
                <a:cubicBezTo>
                  <a:pt x="1111" y="6118"/>
                  <a:pt x="1198" y="6406"/>
                  <a:pt x="1372" y="6673"/>
                </a:cubicBezTo>
                <a:cubicBezTo>
                  <a:pt x="1546" y="6939"/>
                  <a:pt x="1788" y="7157"/>
                  <a:pt x="2100" y="7327"/>
                </a:cubicBezTo>
                <a:lnTo>
                  <a:pt x="4999" y="8909"/>
                </a:lnTo>
                <a:lnTo>
                  <a:pt x="7898" y="7327"/>
                </a:lnTo>
                <a:cubicBezTo>
                  <a:pt x="8209" y="7157"/>
                  <a:pt x="8452" y="6939"/>
                  <a:pt x="8626" y="6673"/>
                </a:cubicBezTo>
                <a:cubicBezTo>
                  <a:pt x="8800" y="6406"/>
                  <a:pt x="8887" y="6118"/>
                  <a:pt x="8887" y="5809"/>
                </a:cubicBezTo>
                <a:lnTo>
                  <a:pt x="8887" y="1636"/>
                </a:lnTo>
                <a:moveTo>
                  <a:pt x="4721" y="5536"/>
                </a:moveTo>
                <a:lnTo>
                  <a:pt x="7476" y="3282"/>
                </a:lnTo>
                <a:lnTo>
                  <a:pt x="8254" y="3927"/>
                </a:lnTo>
                <a:lnTo>
                  <a:pt x="4721" y="6818"/>
                </a:lnTo>
                <a:lnTo>
                  <a:pt x="2366" y="4891"/>
                </a:lnTo>
                <a:lnTo>
                  <a:pt x="3155" y="4245"/>
                </a:lnTo>
              </a:path>
            </a:pathLst>
          </a:custGeom>
          <a:solidFill>
            <a:srgbClr val="5B8CB8">
              <a:alpha val="100000"/>
            </a:srgbClr>
          </a:solidFill>
          <a:ln>
            <a:headEnd type="none"/>
            <a:tailEnd type="none"/>
          </a:ln>
        </p:spPr>
      </p:sp>
      <p:sp>
        <p:nvSpPr>
          <p:cNvPr id="24" name="TextBox 24"/>
          <p:cNvSpPr txBox="1"/>
          <p:nvPr/>
        </p:nvSpPr>
        <p:spPr>
          <a:xfrm>
            <a:off x="6527309" y="3604320"/>
            <a:ext cx="771332" cy="142875"/>
          </a:xfrm>
          <a:prstGeom prst="rect">
            <a:avLst/>
          </a:prstGeom>
          <a:ln>
            <a:headEnd type="none"/>
            <a:tailEnd type="none"/>
          </a:ln>
        </p:spPr>
        <p:txBody>
          <a:bodyPr vert="horz" wrap="square" lIns="0" tIns="0" rIns="0" bIns="0" rtlCol="0" anchor="t" anchorCtr="0"/>
          <a:lstStyle/>
          <a:p>
            <a:pPr algn="l">
              <a:defRPr/>
            </a:pPr>
            <a:r>
              <a:rPr lang="en-US" sz="900" b="1" i="0" strike="noStrike">
                <a:solidFill>
                  <a:srgbClr val="5B8CB8">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开源信任机制</a:t>
            </a:r>
            <a:endParaRPr lang="en-US" sz="1100"/>
          </a:p>
        </p:txBody>
      </p:sp>
      <p:sp>
        <p:nvSpPr>
          <p:cNvPr id="25" name="TextBox 25"/>
          <p:cNvSpPr txBox="1"/>
          <p:nvPr/>
        </p:nvSpPr>
        <p:spPr>
          <a:xfrm>
            <a:off x="6332541" y="3897213"/>
            <a:ext cx="5399325" cy="152400"/>
          </a:xfrm>
          <a:prstGeom prst="rect">
            <a:avLst/>
          </a:prstGeom>
          <a:ln>
            <a:headEnd type="none"/>
            <a:tailEnd type="none"/>
          </a:ln>
        </p:spPr>
        <p:txBody>
          <a:bodyPr vert="horz" wrap="square" lIns="0" tIns="0" rIns="0" bIns="0" rtlCol="0" anchor="t" anchorCtr="0"/>
          <a:lstStyle/>
          <a:p>
            <a:pPr algn="l">
              <a:defRPr/>
            </a:pPr>
            <a:r>
              <a:rPr lang="en-US" sz="10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透明化策略让客户无需依赖单次汇报即可评估团队实力，显著降低合作前的信息不对称</a:t>
            </a:r>
            <a:endParaRPr lang="en-US" sz="1100"/>
          </a:p>
        </p:txBody>
      </p:sp>
      <p:sp>
        <p:nvSpPr>
          <p:cNvPr id="26" name="AutoShape 26"/>
          <p:cNvSpPr/>
          <p:nvPr/>
        </p:nvSpPr>
        <p:spPr>
          <a:xfrm>
            <a:off x="457086" y="4719042"/>
            <a:ext cx="11274781" cy="1681758"/>
          </a:xfrm>
          <a:prstGeom prst="rect">
            <a:avLst/>
          </a:prstGeom>
          <a:solidFill>
            <a:srgbClr val="E8EBEF">
              <a:alpha val="100000"/>
            </a:srgbClr>
          </a:solidFill>
          <a:ln w="9525">
            <a:solidFill>
              <a:srgbClr val="C5CDD6">
                <a:alpha val="100000"/>
              </a:srgbClr>
            </a:solidFill>
            <a:prstDash val="solid"/>
            <a:headEnd type="none"/>
            <a:tailEnd type="none"/>
          </a:ln>
        </p:spPr>
      </p:sp>
      <p:graphicFrame>
        <p:nvGraphicFramePr>
          <p:cNvPr id="28" name="Table 28"/>
          <p:cNvGraphicFramePr>
            <a:graphicFrameLocks noGrp="1"/>
          </p:cNvGraphicFramePr>
          <p:nvPr/>
        </p:nvGraphicFramePr>
        <p:xfrm>
          <a:off x="466725" y="4706620"/>
          <a:ext cx="11255375" cy="1714500"/>
        </p:xfrm>
        <a:graphic>
          <a:graphicData uri="http://schemas.openxmlformats.org/drawingml/2006/table">
            <a:tbl>
              <a:tblPr/>
              <a:tblGrid>
                <a:gridCol w="1685290"/>
                <a:gridCol w="3935730"/>
                <a:gridCol w="5634355"/>
              </a:tblGrid>
              <a:tr h="342900">
                <a:tc>
                  <a:txBody>
                    <a:bodyPr rot="0" wrap="square"/>
                    <a:p>
                      <a:pPr algn="l">
                        <a:defRPr sz="1000" b="1" i="0" strike="noStrike">
                          <a:solidFill>
                            <a:srgbClr val="0A1F3D">
                              <a:alpha val="100000"/>
                            </a:srgbClr>
                          </a:solidFill>
                          <a:latin typeface="&quot;FZYaYiHei GB18030L2 R&quot;, sans-serif"/>
                          <a:ea typeface="&quot;FZYaYiHei GB18030L2 R&quot;, sans-serif"/>
                          <a:cs typeface="&quot;FZYaYiHei GB18030L2 R&quot;, sans-serif"/>
                        </a:defRPr>
                      </a:pPr>
                      <a:r>
                        <a:rPr sz="1000" b="1" i="0" strike="noStrike">
                          <a:solidFill>
                            <a:srgbClr val="0A1F3D">
                              <a:alpha val="100000"/>
                            </a:srgbClr>
                          </a:solidFill>
                          <a:latin typeface="&quot;FZYaYiHei GB18030L2 R&quot;, sans-serif"/>
                          <a:ea typeface="&quot;FZYaYiHei GB18030L2 R&quot;, sans-serif"/>
                          <a:cs typeface="&quot;FZYaYiHei GB18030L2 R&quot;, sans-serif"/>
                        </a:rPr>
                        <a:t>资产类型</a:t>
                      </a:r>
                      <a:endParaRPr sz="1000" b="1"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1" i="0" strike="noStrike">
                          <a:solidFill>
                            <a:srgbClr val="0A1F3D">
                              <a:alpha val="100000"/>
                            </a:srgbClr>
                          </a:solidFill>
                          <a:latin typeface="&quot;FZYaYiHei GB18030L2 R&quot;, sans-serif"/>
                          <a:ea typeface="&quot;FZYaYiHei GB18030L2 R&quot;, sans-serif"/>
                          <a:cs typeface="&quot;FZYaYiHei GB18030L2 R&quot;, sans-serif"/>
                        </a:defRPr>
                      </a:pPr>
                      <a:r>
                        <a:rPr sz="1000" b="1" i="0" strike="noStrike">
                          <a:solidFill>
                            <a:srgbClr val="0A1F3D">
                              <a:alpha val="100000"/>
                            </a:srgbClr>
                          </a:solidFill>
                          <a:latin typeface="&quot;FZYaYiHei GB18030L2 R&quot;, sans-serif"/>
                          <a:ea typeface="&quot;FZYaYiHei GB18030L2 R&quot;, sans-serif"/>
                          <a:cs typeface="&quot;FZYaYiHei GB18030L2 R&quot;, sans-serif"/>
                        </a:rPr>
                        <a:t>项目名称</a:t>
                      </a:r>
                      <a:endParaRPr sz="1000" b="1"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1" i="0" strike="noStrike">
                          <a:solidFill>
                            <a:srgbClr val="0A1F3D">
                              <a:alpha val="100000"/>
                            </a:srgbClr>
                          </a:solidFill>
                          <a:latin typeface="&quot;FZYaYiHei GB18030L2 R&quot;, sans-serif"/>
                          <a:ea typeface="&quot;FZYaYiHei GB18030L2 R&quot;, sans-serif"/>
                          <a:cs typeface="&quot;FZYaYiHei GB18030L2 R&quot;, sans-serif"/>
                        </a:defRPr>
                      </a:pPr>
                      <a:r>
                        <a:rPr sz="1000" b="1" i="0" strike="noStrike">
                          <a:solidFill>
                            <a:srgbClr val="0A1F3D">
                              <a:alpha val="100000"/>
                            </a:srgbClr>
                          </a:solidFill>
                          <a:latin typeface="&quot;FZYaYiHei GB18030L2 R&quot;, sans-serif"/>
                          <a:ea typeface="&quot;FZYaYiHei GB18030L2 R&quot;, sans-serif"/>
                          <a:cs typeface="&quot;FZYaYiHei GB18030L2 R&quot;, sans-serif"/>
                        </a:rPr>
                        <a:t>访问地址</a:t>
                      </a:r>
                      <a:endParaRPr sz="1000" b="1"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342900">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公司官网</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3D</a:t>
                      </a:r>
                      <a:r>
                        <a:rPr lang="zh-CN" sz="1000" b="0" i="0" strike="noStrike">
                          <a:solidFill>
                            <a:srgbClr val="0A1F3D">
                              <a:alpha val="100000"/>
                            </a:srgbClr>
                          </a:solidFill>
                          <a:latin typeface="&quot;FZYaYiHei GB18030L2 R&quot;, sans-serif"/>
                          <a:ea typeface="&quot;FZYaYiHei GB18030L2 R&quot;, sans-serif"/>
                          <a:cs typeface="&quot;FZYaYiHei GB18030L2 R&quot;, sans-serif"/>
                        </a:rPr>
                        <a:t>可视化</a:t>
                      </a:r>
                      <a:endParaRPr lang="zh-CN"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Inter, sans-serif"/>
                          <a:ea typeface="Inter, sans-serif"/>
                          <a:cs typeface="Inter, sans-serif"/>
                        </a:defRPr>
                      </a:pPr>
                      <a:r>
                        <a:rPr sz="1000" b="0" i="0" strike="noStrike">
                          <a:solidFill>
                            <a:srgbClr val="0A1F3D">
                              <a:alpha val="100000"/>
                            </a:srgbClr>
                          </a:solidFill>
                          <a:latin typeface="Inter, sans-serif"/>
                          <a:ea typeface="Inter, sans-serif"/>
                          <a:cs typeface="Inter, sans-serif"/>
                        </a:rPr>
                        <a:t>ciyuan3d.com</a:t>
                      </a:r>
                      <a:endParaRPr sz="1000" b="0" i="0" strike="noStrike">
                        <a:solidFill>
                          <a:srgbClr val="0A1F3D">
                            <a:alpha val="100000"/>
                          </a:srgbClr>
                        </a:solidFill>
                        <a:latin typeface="Inter, sans-serif"/>
                        <a:ea typeface="Inter, sans-serif"/>
                        <a:cs typeface="Inter,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342900">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开源案例库</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three-cesium-examples</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Inter, sans-serif"/>
                          <a:ea typeface="Inter, sans-serif"/>
                          <a:cs typeface="Inter, sans-serif"/>
                        </a:defRPr>
                      </a:pPr>
                      <a:r>
                        <a:rPr sz="1000" b="0" i="0" strike="noStrike">
                          <a:solidFill>
                            <a:srgbClr val="0A1F3D">
                              <a:alpha val="100000"/>
                            </a:srgbClr>
                          </a:solidFill>
                          <a:latin typeface="Inter, sans-serif"/>
                          <a:ea typeface="Inter, sans-serif"/>
                          <a:cs typeface="Inter, sans-serif"/>
                        </a:rPr>
                        <a:t>github.com/z2586300277/three-cesium-examples</a:t>
                      </a:r>
                      <a:endParaRPr sz="1000" b="0" i="0" strike="noStrike">
                        <a:solidFill>
                          <a:srgbClr val="0A1F3D">
                            <a:alpha val="100000"/>
                          </a:srgbClr>
                        </a:solidFill>
                        <a:latin typeface="Inter, sans-serif"/>
                        <a:ea typeface="Inter, sans-serif"/>
                        <a:cs typeface="Inter,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342900">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开源编辑器</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three-editor（AI三维编辑器）</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Inter, sans-serif"/>
                          <a:ea typeface="Inter, sans-serif"/>
                          <a:cs typeface="Inter, sans-serif"/>
                        </a:defRPr>
                      </a:pPr>
                      <a:r>
                        <a:rPr sz="1000" b="0" i="0" strike="noStrike">
                          <a:solidFill>
                            <a:srgbClr val="0A1F3D">
                              <a:alpha val="100000"/>
                            </a:srgbClr>
                          </a:solidFill>
                          <a:latin typeface="Inter, sans-serif"/>
                          <a:ea typeface="Inter, sans-serif"/>
                          <a:cs typeface="Inter, sans-serif"/>
                        </a:rPr>
                        <a:t>github.com/z2586300277/three-editor</a:t>
                      </a:r>
                      <a:endParaRPr sz="1000" b="0" i="0" strike="noStrike">
                        <a:solidFill>
                          <a:srgbClr val="0A1F3D">
                            <a:alpha val="100000"/>
                          </a:srgbClr>
                        </a:solidFill>
                        <a:latin typeface="Inter, sans-serif"/>
                        <a:ea typeface="Inter, sans-serif"/>
                        <a:cs typeface="Inter,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r h="342900">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开源组织</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quot;FZYaYiHei GB18030L2 R&quot;, sans-serif"/>
                          <a:ea typeface="&quot;FZYaYiHei GB18030L2 R&quot;, sans-serif"/>
                          <a:cs typeface="&quot;FZYaYiHei GB18030L2 R&quot;, sans-serif"/>
                        </a:defRPr>
                      </a:pPr>
                      <a:r>
                        <a:rPr sz="1000" b="0" i="0" strike="noStrike">
                          <a:solidFill>
                            <a:srgbClr val="0A1F3D">
                              <a:alpha val="100000"/>
                            </a:srgbClr>
                          </a:solidFill>
                          <a:latin typeface="&quot;FZYaYiHei GB18030L2 R&quot;, sans-serif"/>
                          <a:ea typeface="&quot;FZYaYiHei GB18030L2 R&quot;, sans-serif"/>
                          <a:cs typeface="&quot;FZYaYiHei GB18030L2 R&quot;, sans-serif"/>
                        </a:rPr>
                        <a:t>openThree</a:t>
                      </a:r>
                      <a:endParaRPr sz="1000" b="0" i="0" strike="noStrike">
                        <a:solidFill>
                          <a:srgbClr val="0A1F3D">
                            <a:alpha val="100000"/>
                          </a:srgbClr>
                        </a:solidFill>
                        <a:latin typeface="&quot;FZYaYiHei GB18030L2 R&quot;, sans-serif"/>
                        <a:ea typeface="&quot;FZYaYiHei GB18030L2 R&quot;, sans-serif"/>
                        <a:cs typeface="&quot;FZYaYiHei GB18030L2 R&quot;,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c>
                  <a:txBody>
                    <a:bodyPr rot="0" wrap="square"/>
                    <a:p>
                      <a:pPr algn="l">
                        <a:defRPr sz="1000" b="0" i="0" strike="noStrike">
                          <a:solidFill>
                            <a:srgbClr val="0A1F3D">
                              <a:alpha val="100000"/>
                            </a:srgbClr>
                          </a:solidFill>
                          <a:latin typeface="Inter, sans-serif"/>
                          <a:ea typeface="Inter, sans-serif"/>
                          <a:cs typeface="Inter, sans-serif"/>
                        </a:defRPr>
                      </a:pPr>
                      <a:r>
                        <a:rPr sz="1000" b="0" i="0" strike="noStrike">
                          <a:solidFill>
                            <a:srgbClr val="0A1F3D">
                              <a:alpha val="100000"/>
                            </a:srgbClr>
                          </a:solidFill>
                          <a:latin typeface="Inter, sans-serif"/>
                          <a:ea typeface="Inter, sans-serif"/>
                          <a:cs typeface="Inter, sans-serif"/>
                        </a:rPr>
                        <a:t>github.com/openThree</a:t>
                      </a:r>
                      <a:endParaRPr sz="1000" b="0" i="0" strike="noStrike">
                        <a:solidFill>
                          <a:srgbClr val="0A1F3D">
                            <a:alpha val="100000"/>
                          </a:srgbClr>
                        </a:solidFill>
                        <a:latin typeface="Inter, sans-serif"/>
                        <a:ea typeface="Inter, sans-serif"/>
                        <a:cs typeface="Inter, sans-serif"/>
                      </a:endParaRPr>
                    </a:p>
                  </a:txBody>
                  <a:tcPr marL="114300" marR="114300" marT="95250" marB="95250" vert="horz" anchor="ctr" anchorCtr="0">
                    <a:lnL w="12700">
                      <a:solidFill>
                        <a:srgbClr val="C5CDD6">
                          <a:alpha val="100000"/>
                        </a:srgbClr>
                      </a:solidFill>
                    </a:lnL>
                    <a:lnR w="12700">
                      <a:solidFill>
                        <a:srgbClr val="C5CDD6">
                          <a:alpha val="100000"/>
                        </a:srgbClr>
                      </a:solidFill>
                    </a:lnR>
                    <a:lnT w="12700">
                      <a:solidFill>
                        <a:srgbClr val="C5CDD6">
                          <a:alpha val="100000"/>
                        </a:srgbClr>
                      </a:solidFill>
                    </a:lnT>
                    <a:lnB w="12700">
                      <a:solidFill>
                        <a:srgbClr val="C5CDD6">
                          <a:alpha val="100000"/>
                        </a:srgbClr>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Alibaba PuHuiTi 3.0 55 Regular" panose="00020600040101010101" charset="-122"/>
                <a:ea typeface="Alibaba PuHuiTi 3.0 55 Regular" panose="00020600040101010101" charset="-122"/>
                <a:cs typeface="Alibaba PuHuiTi 3.0 55 Regular" panose="00020600040101010101" charset="-122"/>
              </a:rPr>
              <a:t>TECHNOLOGY CAPABILITY</a:t>
            </a:r>
            <a:endParaRPr lang="en-US" sz="1100"/>
          </a:p>
        </p:txBody>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技术能力：全栈深耕与敏捷优势</a:t>
            </a:r>
            <a:endParaRPr lang="en-US" sz="1100"/>
          </a:p>
        </p:txBody>
      </p:sp>
      <p:sp>
        <p:nvSpPr>
          <p:cNvPr id="5" name="TextBox 5"/>
          <p:cNvSpPr txBox="1"/>
          <p:nvPr/>
        </p:nvSpPr>
        <p:spPr>
          <a:xfrm>
            <a:off x="457086" y="1362075"/>
            <a:ext cx="11274781" cy="420886"/>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团队聚焦WebGL/WebGPU、Three.js、Cesium.js等前沿Web 3D技术方向，具备从底层渲染到应用层的全链路技术掌控力。相比标准化程度较高的大厂方案，</a:t>
            </a:r>
            <a:endParaRPr lang="en-US" sz="1100"/>
          </a:p>
          <a:p>
            <a:pPr algn="l"/>
            <a:r>
              <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我们在中型项目与专项合作场景中展现出显著的灵活性、响应速度与成本优势。</a:t>
            </a:r>
            <a:endPar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2022871"/>
            <a:ext cx="9522" cy="242888"/>
          </a:xfrm>
          <a:prstGeom prst="line">
            <a:avLst/>
          </a:prstGeom>
          <a:ln w="19050">
            <a:solidFill>
              <a:srgbClr val="5B8CB8">
                <a:alpha val="100000"/>
              </a:srgbClr>
            </a:solidFill>
            <a:prstDash val="solid"/>
            <a:headEnd type="none"/>
            <a:tailEnd type="none"/>
          </a:ln>
        </p:spPr>
      </p:sp>
      <p:sp>
        <p:nvSpPr>
          <p:cNvPr id="7" name="TextBox 7"/>
          <p:cNvSpPr txBox="1"/>
          <p:nvPr/>
        </p:nvSpPr>
        <p:spPr>
          <a:xfrm>
            <a:off x="590403" y="2051446"/>
            <a:ext cx="4405699" cy="18097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5B8CB8">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技术栈深度</a:t>
            </a:r>
            <a:endParaRPr lang="en-US" sz="1100"/>
          </a:p>
        </p:txBody>
      </p:sp>
      <p:sp>
        <p:nvSpPr>
          <p:cNvPr id="8" name="AutoShape 8"/>
          <p:cNvSpPr/>
          <p:nvPr/>
        </p:nvSpPr>
        <p:spPr>
          <a:xfrm>
            <a:off x="575598" y="2441973"/>
            <a:ext cx="133317" cy="133350"/>
          </a:xfrm>
          <a:custGeom>
            <a:avLst/>
            <a:gdLst/>
            <a:ahLst/>
            <a:cxnLst/>
            <a:rect l="l" t="t" r="r" b="b"/>
            <a:pathLst>
              <a:path w="9998" h="10000">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7229" y="3033"/>
                </a:moveTo>
                <a:lnTo>
                  <a:pt x="8998" y="5000"/>
                </a:lnTo>
                <a:lnTo>
                  <a:pt x="7229" y="6967"/>
                </a:lnTo>
                <a:lnTo>
                  <a:pt x="6529" y="6178"/>
                </a:lnTo>
                <a:lnTo>
                  <a:pt x="7588" y="5000"/>
                </a:lnTo>
                <a:lnTo>
                  <a:pt x="6529" y="3822"/>
                </a:lnTo>
                <a:lnTo>
                  <a:pt x="7229" y="3033"/>
                </a:lnTo>
                <a:moveTo>
                  <a:pt x="3469" y="3822"/>
                </a:moveTo>
                <a:lnTo>
                  <a:pt x="2410" y="5000"/>
                </a:lnTo>
                <a:lnTo>
                  <a:pt x="3469" y="6178"/>
                </a:lnTo>
                <a:lnTo>
                  <a:pt x="2769" y="6967"/>
                </a:lnTo>
                <a:lnTo>
                  <a:pt x="1000" y="5000"/>
                </a:lnTo>
                <a:lnTo>
                  <a:pt x="2769" y="3033"/>
                </a:lnTo>
                <a:lnTo>
                  <a:pt x="3469" y="3822"/>
                </a:lnTo>
                <a:moveTo>
                  <a:pt x="6439" y="2222"/>
                </a:moveTo>
                <a:lnTo>
                  <a:pt x="4619" y="7778"/>
                </a:lnTo>
                <a:lnTo>
                  <a:pt x="3559" y="7778"/>
                </a:lnTo>
                <a:lnTo>
                  <a:pt x="5379" y="2222"/>
                </a:lnTo>
              </a:path>
            </a:pathLst>
          </a:custGeom>
          <a:solidFill>
            <a:srgbClr val="5B8CB8">
              <a:alpha val="100000"/>
            </a:srgbClr>
          </a:solidFill>
          <a:ln>
            <a:headEnd type="none"/>
            <a:tailEnd type="none"/>
          </a:ln>
        </p:spPr>
      </p:sp>
      <p:sp>
        <p:nvSpPr>
          <p:cNvPr id="9" name="TextBox 9"/>
          <p:cNvSpPr txBox="1"/>
          <p:nvPr/>
        </p:nvSpPr>
        <p:spPr>
          <a:xfrm>
            <a:off x="770291" y="2408634"/>
            <a:ext cx="4225811"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底层渲染：WebGL/WebGPU原生能力，具备从底层优化性能的技</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术实力</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0" name="TextBox 10"/>
          <p:cNvSpPr txBox="1"/>
          <p:nvPr/>
        </p:nvSpPr>
        <p:spPr>
          <a:xfrm>
            <a:off x="666584" y="2961085"/>
            <a:ext cx="4329518"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三维引擎：Three.js、Cesium.js长期深耕，掌握引擎核心原理与扩展</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机制</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1" name="TextBox 11"/>
          <p:cNvSpPr txBox="1"/>
          <p:nvPr/>
        </p:nvSpPr>
        <p:spPr>
          <a:xfrm>
            <a:off x="666584" y="3513535"/>
            <a:ext cx="4329518" cy="390525"/>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应用层：数字孪生可视化、场景搭建、GIS/地图/园区/设备场景构建</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全链路覆盖</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457086" y="4208860"/>
            <a:ext cx="9522" cy="242888"/>
          </a:xfrm>
          <a:prstGeom prst="line">
            <a:avLst/>
          </a:prstGeom>
          <a:ln w="19050">
            <a:solidFill>
              <a:srgbClr val="5B8CB8">
                <a:alpha val="100000"/>
              </a:srgbClr>
            </a:solidFill>
            <a:prstDash val="solid"/>
            <a:headEnd type="none"/>
            <a:tailEnd type="none"/>
          </a:ln>
        </p:spPr>
      </p:sp>
      <p:sp>
        <p:nvSpPr>
          <p:cNvPr id="13" name="TextBox 13"/>
          <p:cNvSpPr txBox="1"/>
          <p:nvPr/>
        </p:nvSpPr>
        <p:spPr>
          <a:xfrm>
            <a:off x="590403" y="4237435"/>
            <a:ext cx="4405699" cy="180975"/>
          </a:xfrm>
          <a:prstGeom prst="rect">
            <a:avLst/>
          </a:prstGeom>
          <a:ln>
            <a:headEnd type="none"/>
            <a:tailEnd type="none"/>
          </a:ln>
        </p:spPr>
        <p:txBody>
          <a:bodyPr vert="horz" wrap="square" lIns="0" tIns="0" rIns="0" bIns="0" rtlCol="0" anchor="t" anchorCtr="0"/>
          <a:lstStyle/>
          <a:p>
            <a:pPr algn="l">
              <a:defRPr/>
            </a:pPr>
            <a:r>
              <a:rPr lang="en-US" sz="1200" b="1" i="0" strike="noStrike">
                <a:solidFill>
                  <a:srgbClr val="5B8CB8">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相较传统大厂方案</a:t>
            </a:r>
            <a:endParaRPr lang="en-US" sz="1100"/>
          </a:p>
        </p:txBody>
      </p:sp>
      <p:sp>
        <p:nvSpPr>
          <p:cNvPr id="14" name="AutoShape 14"/>
          <p:cNvSpPr/>
          <p:nvPr/>
        </p:nvSpPr>
        <p:spPr>
          <a:xfrm>
            <a:off x="575598" y="4627959"/>
            <a:ext cx="133317" cy="133350"/>
          </a:xfrm>
          <a:custGeom>
            <a:avLst/>
            <a:gdLst/>
            <a:ahLst/>
            <a:cxnLst/>
            <a:rect l="l" t="t" r="r" b="b"/>
            <a:pathLst>
              <a:path w="9998" h="10000">
                <a:moveTo>
                  <a:pt x="7618" y="7940"/>
                </a:moveTo>
                <a:lnTo>
                  <a:pt x="7618" y="7000"/>
                </a:lnTo>
                <a:lnTo>
                  <a:pt x="9998" y="8500"/>
                </a:lnTo>
                <a:lnTo>
                  <a:pt x="7618" y="10000"/>
                </a:lnTo>
                <a:lnTo>
                  <a:pt x="7618" y="8950"/>
                </a:lnTo>
                <a:cubicBezTo>
                  <a:pt x="6881" y="8843"/>
                  <a:pt x="6216" y="8551"/>
                  <a:pt x="5623" y="8075"/>
                </a:cubicBezTo>
                <a:cubicBezTo>
                  <a:pt x="5029" y="7598"/>
                  <a:pt x="4583" y="6996"/>
                  <a:pt x="4285" y="6270"/>
                </a:cubicBezTo>
                <a:cubicBezTo>
                  <a:pt x="4063" y="6816"/>
                  <a:pt x="3752" y="7296"/>
                  <a:pt x="3352" y="7710"/>
                </a:cubicBezTo>
                <a:cubicBezTo>
                  <a:pt x="2952" y="8123"/>
                  <a:pt x="2491" y="8441"/>
                  <a:pt x="1971" y="8665"/>
                </a:cubicBezTo>
                <a:cubicBezTo>
                  <a:pt x="1450" y="8888"/>
                  <a:pt x="907" y="9000"/>
                  <a:pt x="343" y="9000"/>
                </a:cubicBezTo>
                <a:lnTo>
                  <a:pt x="0" y="9000"/>
                </a:lnTo>
                <a:lnTo>
                  <a:pt x="0" y="8000"/>
                </a:lnTo>
                <a:lnTo>
                  <a:pt x="343" y="8000"/>
                </a:lnTo>
                <a:cubicBezTo>
                  <a:pt x="787" y="8000"/>
                  <a:pt x="1210" y="7913"/>
                  <a:pt x="1614" y="7740"/>
                </a:cubicBezTo>
                <a:cubicBezTo>
                  <a:pt x="2017" y="7566"/>
                  <a:pt x="2374" y="7320"/>
                  <a:pt x="2685" y="7000"/>
                </a:cubicBezTo>
                <a:cubicBezTo>
                  <a:pt x="2996" y="6680"/>
                  <a:pt x="3237" y="6306"/>
                  <a:pt x="3409" y="5880"/>
                </a:cubicBezTo>
                <a:lnTo>
                  <a:pt x="3771" y="5000"/>
                </a:lnTo>
                <a:lnTo>
                  <a:pt x="3409" y="4120"/>
                </a:lnTo>
                <a:cubicBezTo>
                  <a:pt x="3237" y="3693"/>
                  <a:pt x="2996" y="3320"/>
                  <a:pt x="2685" y="3000"/>
                </a:cubicBezTo>
                <a:cubicBezTo>
                  <a:pt x="2374" y="2680"/>
                  <a:pt x="2017" y="2433"/>
                  <a:pt x="1614" y="2260"/>
                </a:cubicBezTo>
                <a:cubicBezTo>
                  <a:pt x="1210" y="2086"/>
                  <a:pt x="787" y="2000"/>
                  <a:pt x="343" y="2000"/>
                </a:cubicBezTo>
                <a:lnTo>
                  <a:pt x="0" y="2000"/>
                </a:lnTo>
                <a:lnTo>
                  <a:pt x="0" y="1000"/>
                </a:lnTo>
                <a:lnTo>
                  <a:pt x="343" y="1000"/>
                </a:lnTo>
                <a:cubicBezTo>
                  <a:pt x="907" y="1000"/>
                  <a:pt x="1450" y="1111"/>
                  <a:pt x="1971" y="1335"/>
                </a:cubicBezTo>
                <a:cubicBezTo>
                  <a:pt x="2491" y="1558"/>
                  <a:pt x="2952" y="1876"/>
                  <a:pt x="3352" y="2290"/>
                </a:cubicBezTo>
                <a:cubicBezTo>
                  <a:pt x="3752" y="2703"/>
                  <a:pt x="4063" y="3183"/>
                  <a:pt x="4285" y="3730"/>
                </a:cubicBezTo>
                <a:cubicBezTo>
                  <a:pt x="4583" y="3003"/>
                  <a:pt x="5029" y="2401"/>
                  <a:pt x="5623" y="1925"/>
                </a:cubicBezTo>
                <a:cubicBezTo>
                  <a:pt x="6216" y="1448"/>
                  <a:pt x="6881" y="1156"/>
                  <a:pt x="7618" y="1050"/>
                </a:cubicBezTo>
                <a:lnTo>
                  <a:pt x="7618" y="0"/>
                </a:lnTo>
                <a:lnTo>
                  <a:pt x="9998" y="1500"/>
                </a:lnTo>
                <a:lnTo>
                  <a:pt x="7618" y="3000"/>
                </a:lnTo>
                <a:lnTo>
                  <a:pt x="7618" y="2060"/>
                </a:lnTo>
                <a:cubicBezTo>
                  <a:pt x="7072" y="2166"/>
                  <a:pt x="6581" y="2401"/>
                  <a:pt x="6146" y="2765"/>
                </a:cubicBezTo>
                <a:cubicBezTo>
                  <a:pt x="5711" y="3128"/>
                  <a:pt x="5383" y="3580"/>
                  <a:pt x="5161" y="4120"/>
                </a:cubicBezTo>
                <a:lnTo>
                  <a:pt x="4799" y="5000"/>
                </a:lnTo>
                <a:lnTo>
                  <a:pt x="5161" y="5880"/>
                </a:lnTo>
                <a:cubicBezTo>
                  <a:pt x="5383" y="6420"/>
                  <a:pt x="5711" y="6871"/>
                  <a:pt x="6146" y="7235"/>
                </a:cubicBezTo>
                <a:cubicBezTo>
                  <a:pt x="6581" y="7598"/>
                  <a:pt x="7072" y="7833"/>
                  <a:pt x="7618" y="7940"/>
                </a:cubicBezTo>
              </a:path>
            </a:pathLst>
          </a:custGeom>
          <a:solidFill>
            <a:srgbClr val="5B8CB8">
              <a:alpha val="100000"/>
            </a:srgbClr>
          </a:solidFill>
          <a:ln>
            <a:headEnd type="none"/>
            <a:tailEnd type="none"/>
          </a:ln>
        </p:spPr>
      </p:sp>
      <p:sp>
        <p:nvSpPr>
          <p:cNvPr id="15" name="TextBox 15"/>
          <p:cNvSpPr txBox="1"/>
          <p:nvPr/>
        </p:nvSpPr>
        <p:spPr>
          <a:xfrm>
            <a:off x="770291" y="4594623"/>
            <a:ext cx="4225811" cy="3905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方案更灵活：</a:t>
            </a:r>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不受标准化产品限制，可根据客户具体需求深度定制</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业务逻辑与数据联动方案</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6" name="AutoShape 16"/>
          <p:cNvSpPr/>
          <p:nvPr/>
        </p:nvSpPr>
        <p:spPr>
          <a:xfrm>
            <a:off x="575598" y="5180410"/>
            <a:ext cx="133317" cy="133350"/>
          </a:xfrm>
          <a:custGeom>
            <a:avLst/>
            <a:gdLst/>
            <a:ahLst/>
            <a:cxnLst/>
            <a:rect l="l" t="t" r="r" b="b"/>
            <a:pathLst>
              <a:path w="9998" h="10000">
                <a:moveTo>
                  <a:pt x="4631" y="9669"/>
                </a:moveTo>
                <a:lnTo>
                  <a:pt x="4631" y="5886"/>
                </a:lnTo>
                <a:lnTo>
                  <a:pt x="361" y="9947"/>
                </a:lnTo>
                <a:cubicBezTo>
                  <a:pt x="305" y="9999"/>
                  <a:pt x="247" y="10017"/>
                  <a:pt x="185" y="10000"/>
                </a:cubicBezTo>
                <a:cubicBezTo>
                  <a:pt x="123" y="9982"/>
                  <a:pt x="74" y="9934"/>
                  <a:pt x="37" y="9854"/>
                </a:cubicBezTo>
                <a:cubicBezTo>
                  <a:pt x="12" y="9801"/>
                  <a:pt x="0" y="9739"/>
                  <a:pt x="0" y="9669"/>
                </a:cubicBezTo>
                <a:lnTo>
                  <a:pt x="0" y="331"/>
                </a:lnTo>
                <a:cubicBezTo>
                  <a:pt x="0" y="233"/>
                  <a:pt x="23" y="154"/>
                  <a:pt x="69" y="93"/>
                </a:cubicBezTo>
                <a:cubicBezTo>
                  <a:pt x="115" y="31"/>
                  <a:pt x="170" y="0"/>
                  <a:pt x="232" y="0"/>
                </a:cubicBezTo>
                <a:cubicBezTo>
                  <a:pt x="281" y="0"/>
                  <a:pt x="324" y="17"/>
                  <a:pt x="361" y="53"/>
                </a:cubicBezTo>
                <a:lnTo>
                  <a:pt x="4631" y="4114"/>
                </a:lnTo>
                <a:lnTo>
                  <a:pt x="4631" y="331"/>
                </a:lnTo>
                <a:cubicBezTo>
                  <a:pt x="4631" y="233"/>
                  <a:pt x="4654" y="154"/>
                  <a:pt x="4700" y="93"/>
                </a:cubicBezTo>
                <a:cubicBezTo>
                  <a:pt x="4746" y="31"/>
                  <a:pt x="4800" y="0"/>
                  <a:pt x="4862" y="0"/>
                </a:cubicBezTo>
                <a:cubicBezTo>
                  <a:pt x="4911" y="0"/>
                  <a:pt x="4954" y="17"/>
                  <a:pt x="4992" y="53"/>
                </a:cubicBezTo>
                <a:lnTo>
                  <a:pt x="9901" y="4722"/>
                </a:lnTo>
                <a:cubicBezTo>
                  <a:pt x="9950" y="4775"/>
                  <a:pt x="9982" y="4846"/>
                  <a:pt x="9998" y="4934"/>
                </a:cubicBezTo>
                <a:cubicBezTo>
                  <a:pt x="10013" y="5022"/>
                  <a:pt x="10002" y="5105"/>
                  <a:pt x="9966" y="5185"/>
                </a:cubicBezTo>
                <a:cubicBezTo>
                  <a:pt x="9947" y="5220"/>
                  <a:pt x="9925" y="5251"/>
                  <a:pt x="9901" y="5278"/>
                </a:cubicBezTo>
                <a:lnTo>
                  <a:pt x="4992" y="9947"/>
                </a:lnTo>
                <a:cubicBezTo>
                  <a:pt x="4936" y="9999"/>
                  <a:pt x="4878" y="10017"/>
                  <a:pt x="4816" y="10000"/>
                </a:cubicBezTo>
                <a:cubicBezTo>
                  <a:pt x="4754" y="9982"/>
                  <a:pt x="4704" y="9934"/>
                  <a:pt x="4668" y="9854"/>
                </a:cubicBezTo>
                <a:cubicBezTo>
                  <a:pt x="4643" y="9801"/>
                  <a:pt x="4631" y="9739"/>
                  <a:pt x="4631" y="9669"/>
                </a:cubicBezTo>
                <a:moveTo>
                  <a:pt x="926" y="7817"/>
                </a:moveTo>
                <a:lnTo>
                  <a:pt x="3890" y="5000"/>
                </a:lnTo>
                <a:lnTo>
                  <a:pt x="926" y="2183"/>
                </a:lnTo>
                <a:lnTo>
                  <a:pt x="926" y="7817"/>
                </a:lnTo>
                <a:moveTo>
                  <a:pt x="8521" y="5000"/>
                </a:moveTo>
                <a:lnTo>
                  <a:pt x="5557" y="2183"/>
                </a:lnTo>
                <a:lnTo>
                  <a:pt x="5557" y="7817"/>
                </a:lnTo>
              </a:path>
            </a:pathLst>
          </a:custGeom>
          <a:solidFill>
            <a:srgbClr val="5B8CB8">
              <a:alpha val="100000"/>
            </a:srgbClr>
          </a:solidFill>
          <a:ln>
            <a:headEnd type="none"/>
            <a:tailEnd type="none"/>
          </a:ln>
        </p:spPr>
      </p:sp>
      <p:sp>
        <p:nvSpPr>
          <p:cNvPr id="17" name="TextBox 17"/>
          <p:cNvSpPr txBox="1"/>
          <p:nvPr/>
        </p:nvSpPr>
        <p:spPr>
          <a:xfrm>
            <a:off x="770291" y="5147073"/>
            <a:ext cx="4037590" cy="1619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响应更快：</a:t>
            </a:r>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决策链条短，项目启动快，适配快速迭代的项目需求</a:t>
            </a:r>
            <a:endParaRPr lang="en-US" sz="1100"/>
          </a:p>
        </p:txBody>
      </p:sp>
      <p:sp>
        <p:nvSpPr>
          <p:cNvPr id="18" name="AutoShape 18"/>
          <p:cNvSpPr/>
          <p:nvPr/>
        </p:nvSpPr>
        <p:spPr>
          <a:xfrm>
            <a:off x="575598" y="5504260"/>
            <a:ext cx="133317" cy="133350"/>
          </a:xfrm>
          <a:custGeom>
            <a:avLst/>
            <a:gdLst/>
            <a:ahLst/>
            <a:cxnLst/>
            <a:rect l="l" t="t" r="r" b="b"/>
            <a:pathLst>
              <a:path w="9998" h="10000">
                <a:moveTo>
                  <a:pt x="4999" y="0"/>
                </a:moveTo>
                <a:cubicBezTo>
                  <a:pt x="5677" y="0"/>
                  <a:pt x="6326" y="100"/>
                  <a:pt x="6944" y="300"/>
                </a:cubicBezTo>
                <a:cubicBezTo>
                  <a:pt x="7544" y="483"/>
                  <a:pt x="8074" y="748"/>
                  <a:pt x="8535" y="1094"/>
                </a:cubicBezTo>
                <a:cubicBezTo>
                  <a:pt x="8995" y="1440"/>
                  <a:pt x="9352" y="1838"/>
                  <a:pt x="9607" y="2288"/>
                </a:cubicBezTo>
                <a:cubicBezTo>
                  <a:pt x="9867" y="2754"/>
                  <a:pt x="9998" y="3242"/>
                  <a:pt x="9998" y="3750"/>
                </a:cubicBezTo>
                <a:lnTo>
                  <a:pt x="9998" y="6250"/>
                </a:lnTo>
                <a:cubicBezTo>
                  <a:pt x="9998" y="6758"/>
                  <a:pt x="9867" y="7246"/>
                  <a:pt x="9607" y="7713"/>
                </a:cubicBezTo>
                <a:cubicBezTo>
                  <a:pt x="9352" y="8163"/>
                  <a:pt x="8995" y="8560"/>
                  <a:pt x="8535" y="8906"/>
                </a:cubicBezTo>
                <a:cubicBezTo>
                  <a:pt x="8074" y="9252"/>
                  <a:pt x="7544" y="9516"/>
                  <a:pt x="6944" y="9700"/>
                </a:cubicBezTo>
                <a:cubicBezTo>
                  <a:pt x="6326" y="9900"/>
                  <a:pt x="5677" y="10000"/>
                  <a:pt x="4999" y="10000"/>
                </a:cubicBezTo>
                <a:cubicBezTo>
                  <a:pt x="4108" y="10000"/>
                  <a:pt x="3281" y="9833"/>
                  <a:pt x="2518" y="9500"/>
                </a:cubicBezTo>
                <a:cubicBezTo>
                  <a:pt x="1772" y="9183"/>
                  <a:pt x="1175" y="8750"/>
                  <a:pt x="727" y="8200"/>
                </a:cubicBezTo>
                <a:cubicBezTo>
                  <a:pt x="266" y="7633"/>
                  <a:pt x="24" y="7021"/>
                  <a:pt x="0" y="6363"/>
                </a:cubicBezTo>
                <a:lnTo>
                  <a:pt x="0" y="3750"/>
                </a:lnTo>
                <a:cubicBezTo>
                  <a:pt x="0" y="3242"/>
                  <a:pt x="130" y="2754"/>
                  <a:pt x="391" y="2288"/>
                </a:cubicBezTo>
                <a:cubicBezTo>
                  <a:pt x="645" y="1838"/>
                  <a:pt x="1003" y="1440"/>
                  <a:pt x="1463" y="1094"/>
                </a:cubicBezTo>
                <a:cubicBezTo>
                  <a:pt x="1923" y="748"/>
                  <a:pt x="2454" y="483"/>
                  <a:pt x="3054" y="300"/>
                </a:cubicBezTo>
                <a:cubicBezTo>
                  <a:pt x="3672" y="100"/>
                  <a:pt x="4320" y="0"/>
                  <a:pt x="4999" y="0"/>
                </a:cubicBezTo>
                <a:moveTo>
                  <a:pt x="4999" y="7500"/>
                </a:moveTo>
                <a:cubicBezTo>
                  <a:pt x="4169" y="7500"/>
                  <a:pt x="3390" y="7354"/>
                  <a:pt x="2663" y="7063"/>
                </a:cubicBezTo>
                <a:cubicBezTo>
                  <a:pt x="1954" y="6779"/>
                  <a:pt x="1369" y="6396"/>
                  <a:pt x="909" y="5913"/>
                </a:cubicBezTo>
                <a:lnTo>
                  <a:pt x="909" y="6250"/>
                </a:lnTo>
                <a:cubicBezTo>
                  <a:pt x="909" y="6542"/>
                  <a:pt x="1012" y="6835"/>
                  <a:pt x="1218" y="7131"/>
                </a:cubicBezTo>
                <a:cubicBezTo>
                  <a:pt x="1424" y="7427"/>
                  <a:pt x="1711" y="7696"/>
                  <a:pt x="2081" y="7938"/>
                </a:cubicBezTo>
                <a:cubicBezTo>
                  <a:pt x="2463" y="8188"/>
                  <a:pt x="2896" y="8383"/>
                  <a:pt x="3381" y="8525"/>
                </a:cubicBezTo>
                <a:cubicBezTo>
                  <a:pt x="3896" y="8675"/>
                  <a:pt x="4435" y="8750"/>
                  <a:pt x="4999" y="8750"/>
                </a:cubicBezTo>
                <a:cubicBezTo>
                  <a:pt x="5726" y="8750"/>
                  <a:pt x="6411" y="8625"/>
                  <a:pt x="7053" y="8375"/>
                </a:cubicBezTo>
                <a:cubicBezTo>
                  <a:pt x="7647" y="8150"/>
                  <a:pt x="8128" y="7850"/>
                  <a:pt x="8498" y="7475"/>
                </a:cubicBezTo>
                <a:cubicBezTo>
                  <a:pt x="8868" y="7100"/>
                  <a:pt x="9065" y="6717"/>
                  <a:pt x="9089" y="6325"/>
                </a:cubicBezTo>
                <a:lnTo>
                  <a:pt x="9089" y="5900"/>
                </a:lnTo>
                <a:cubicBezTo>
                  <a:pt x="8628" y="6392"/>
                  <a:pt x="8043" y="6779"/>
                  <a:pt x="7335" y="7063"/>
                </a:cubicBezTo>
                <a:cubicBezTo>
                  <a:pt x="6607" y="7354"/>
                  <a:pt x="5829" y="7500"/>
                  <a:pt x="4999" y="7500"/>
                </a:cubicBezTo>
                <a:moveTo>
                  <a:pt x="4999" y="1250"/>
                </a:moveTo>
                <a:cubicBezTo>
                  <a:pt x="4435" y="1250"/>
                  <a:pt x="3896" y="1325"/>
                  <a:pt x="3381" y="1475"/>
                </a:cubicBezTo>
                <a:cubicBezTo>
                  <a:pt x="2896" y="1617"/>
                  <a:pt x="2463" y="1813"/>
                  <a:pt x="2081" y="2063"/>
                </a:cubicBezTo>
                <a:cubicBezTo>
                  <a:pt x="1711" y="2304"/>
                  <a:pt x="1424" y="2573"/>
                  <a:pt x="1218" y="2869"/>
                </a:cubicBezTo>
                <a:cubicBezTo>
                  <a:pt x="1012" y="3165"/>
                  <a:pt x="909" y="3458"/>
                  <a:pt x="909" y="3750"/>
                </a:cubicBezTo>
                <a:cubicBezTo>
                  <a:pt x="909" y="4042"/>
                  <a:pt x="1012" y="4335"/>
                  <a:pt x="1218" y="4631"/>
                </a:cubicBezTo>
                <a:cubicBezTo>
                  <a:pt x="1424" y="4927"/>
                  <a:pt x="1711" y="5196"/>
                  <a:pt x="2081" y="5438"/>
                </a:cubicBezTo>
                <a:cubicBezTo>
                  <a:pt x="2463" y="5688"/>
                  <a:pt x="2896" y="5883"/>
                  <a:pt x="3381" y="6025"/>
                </a:cubicBezTo>
                <a:cubicBezTo>
                  <a:pt x="3896" y="6175"/>
                  <a:pt x="4435" y="6250"/>
                  <a:pt x="4999" y="6250"/>
                </a:cubicBezTo>
                <a:cubicBezTo>
                  <a:pt x="5562" y="6250"/>
                  <a:pt x="6101" y="6175"/>
                  <a:pt x="6617" y="6025"/>
                </a:cubicBezTo>
                <a:cubicBezTo>
                  <a:pt x="7101" y="5883"/>
                  <a:pt x="7535" y="5688"/>
                  <a:pt x="7917" y="5438"/>
                </a:cubicBezTo>
                <a:cubicBezTo>
                  <a:pt x="8286" y="5196"/>
                  <a:pt x="8574" y="4927"/>
                  <a:pt x="8780" y="4631"/>
                </a:cubicBezTo>
                <a:cubicBezTo>
                  <a:pt x="8986" y="4335"/>
                  <a:pt x="9089" y="4042"/>
                  <a:pt x="9089" y="3750"/>
                </a:cubicBezTo>
                <a:cubicBezTo>
                  <a:pt x="9089" y="3458"/>
                  <a:pt x="8986" y="3165"/>
                  <a:pt x="8780" y="2869"/>
                </a:cubicBezTo>
                <a:cubicBezTo>
                  <a:pt x="8574" y="2573"/>
                  <a:pt x="8286" y="2304"/>
                  <a:pt x="7917" y="2063"/>
                </a:cubicBezTo>
                <a:cubicBezTo>
                  <a:pt x="7535" y="1813"/>
                  <a:pt x="7101" y="1617"/>
                  <a:pt x="6617" y="1475"/>
                </a:cubicBezTo>
                <a:cubicBezTo>
                  <a:pt x="6101" y="1325"/>
                  <a:pt x="5562" y="1250"/>
                  <a:pt x="4999" y="1250"/>
                </a:cubicBezTo>
              </a:path>
            </a:pathLst>
          </a:custGeom>
          <a:solidFill>
            <a:srgbClr val="5B8CB8">
              <a:alpha val="100000"/>
            </a:srgbClr>
          </a:solidFill>
          <a:ln>
            <a:headEnd type="none"/>
            <a:tailEnd type="none"/>
          </a:ln>
        </p:spPr>
      </p:sp>
      <p:sp>
        <p:nvSpPr>
          <p:cNvPr id="19" name="TextBox 19"/>
          <p:cNvSpPr txBox="1"/>
          <p:nvPr/>
        </p:nvSpPr>
        <p:spPr>
          <a:xfrm>
            <a:off x="770291" y="5470921"/>
            <a:ext cx="4225811" cy="390525"/>
          </a:xfrm>
          <a:prstGeom prst="rect">
            <a:avLst/>
          </a:prstGeom>
          <a:ln>
            <a:headEnd type="none"/>
            <a:tailEnd type="none"/>
          </a:ln>
        </p:spPr>
        <p:txBody>
          <a:bodyPr vert="horz" wrap="square" lIns="0" tIns="0" rIns="0" bIns="0" rtlCol="0" anchor="t" anchorCtr="0"/>
          <a:lstStyle/>
          <a:p>
            <a:pPr algn="l">
              <a:defRPr/>
            </a:pPr>
            <a:r>
              <a:rPr lang="en-US" sz="1100" b="1"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成本更可控：</a:t>
            </a:r>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整体投入显著低于大厂方案，性价比优势突出，更适</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合中型项目与专项合作场景</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0" name="AutoShape 20"/>
          <p:cNvSpPr/>
          <p:nvPr/>
        </p:nvSpPr>
        <p:spPr>
          <a:xfrm>
            <a:off x="5377006" y="2022871"/>
            <a:ext cx="6354860" cy="4377927"/>
          </a:xfrm>
          <a:prstGeom prst="rect">
            <a:avLst/>
          </a:prstGeom>
          <a:solidFill>
            <a:srgbClr val="E8EBEF">
              <a:alpha val="100000"/>
            </a:srgbClr>
          </a:solidFill>
          <a:ln w="9525">
            <a:solidFill>
              <a:srgbClr val="C5CDD6">
                <a:alpha val="100000"/>
              </a:srgbClr>
            </a:solidFill>
            <a:prstDash val="solid"/>
            <a:headEnd type="none"/>
            <a:tailEnd type="none"/>
          </a:ln>
        </p:spPr>
      </p:sp>
      <p:sp>
        <p:nvSpPr>
          <p:cNvPr id="21" name="AutoShape 21"/>
          <p:cNvSpPr/>
          <p:nvPr/>
        </p:nvSpPr>
        <p:spPr>
          <a:xfrm>
            <a:off x="5377006" y="2022871"/>
            <a:ext cx="6354860" cy="9525"/>
          </a:xfrm>
          <a:prstGeom prst="line">
            <a:avLst/>
          </a:prstGeom>
          <a:ln w="28575">
            <a:solidFill>
              <a:srgbClr val="5B8CB8">
                <a:alpha val="100000"/>
              </a:srgbClr>
            </a:solidFill>
            <a:prstDash val="solid"/>
            <a:headEnd type="none"/>
            <a:tailEnd type="none"/>
          </a:ln>
        </p:spPr>
      </p:sp>
      <p:sp>
        <p:nvSpPr>
          <p:cNvPr id="22" name="TextBox 22"/>
          <p:cNvSpPr txBox="1"/>
          <p:nvPr/>
        </p:nvSpPr>
        <p:spPr>
          <a:xfrm>
            <a:off x="6361035" y="2280046"/>
            <a:ext cx="4386802" cy="228600"/>
          </a:xfrm>
          <a:prstGeom prst="rect">
            <a:avLst/>
          </a:prstGeom>
          <a:ln>
            <a:headEnd type="none"/>
            <a:tailEnd type="none"/>
          </a:ln>
        </p:spPr>
        <p:txBody>
          <a:bodyPr vert="horz" wrap="square" lIns="0" tIns="0" rIns="0" bIns="0" rtlCol="0" anchor="t" anchorCtr="1"/>
          <a:lstStyle/>
          <a:p>
            <a:pPr algn="ctr">
              <a:defRPr/>
            </a:pPr>
            <a:r>
              <a:rPr lang="en-US" sz="1200" b="1" i="0" strike="noStrike">
                <a:solidFill>
                  <a:srgbClr val="0A1F3D">
                    <a:alpha val="90196"/>
                  </a:srgbClr>
                </a:solidFill>
                <a:latin typeface="Alibaba PuHuiTi 3.0 55 Regular" panose="00020600040101010101" charset="-122"/>
                <a:ea typeface="Alibaba PuHuiTi 3.0 55 Regular" panose="00020600040101010101" charset="-122"/>
                <a:cs typeface="Alibaba PuHuiTi 3.0 55 Regular" panose="00020600040101010101" charset="-122"/>
              </a:rPr>
              <a:t>相较传统大厂方案的优势对比（评估分值）</a:t>
            </a:r>
            <a:endParaRPr lang="en-US" sz="1100"/>
          </a:p>
        </p:txBody>
      </p:sp>
      <p:graphicFrame>
        <p:nvGraphicFramePr>
          <p:cNvPr id="23" name="Chart 23"/>
          <p:cNvGraphicFramePr>
            <a:graphicFrameLocks noGrp="1"/>
          </p:cNvGraphicFramePr>
          <p:nvPr/>
        </p:nvGraphicFramePr>
        <p:xfrm>
          <a:off x="5615071" y="2661048"/>
          <a:ext cx="5878730" cy="3230165"/>
        </p:xfrm>
        <a:graphic>
          <a:graphicData uri="http://schemas.openxmlformats.org/drawingml/2006/chart">
            <c:chart xmlns:c="http://schemas.openxmlformats.org/drawingml/2006/chart" xmlns:r="http://schemas.openxmlformats.org/officeDocument/2006/relationships" r:id="rId1"/>
          </a:graphicData>
        </a:graphic>
      </p:graphicFrame>
      <p:sp>
        <p:nvSpPr>
          <p:cNvPr id="24" name="TextBox 23"/>
          <p:cNvSpPr txBox="1"/>
          <p:nvPr/>
        </p:nvSpPr>
        <p:spPr>
          <a:xfrm>
            <a:off x="6796695" y="6005512"/>
            <a:ext cx="3515483" cy="157162"/>
          </a:xfrm>
          <a:prstGeom prst="rect">
            <a:avLst/>
          </a:prstGeom>
          <a:ln>
            <a:headEnd type="none"/>
            <a:tailEnd type="none"/>
          </a:ln>
        </p:spPr>
        <p:txBody>
          <a:bodyPr vert="horz" wrap="square" lIns="0" tIns="0" rIns="0" bIns="0" rtlCol="0" anchor="t" anchorCtr="1"/>
          <a:lstStyle/>
          <a:p>
            <a:pPr algn="ctr">
              <a:defRPr/>
            </a:pPr>
            <a:r>
              <a:rPr lang="en-US" sz="800" b="0" i="0" strike="noStrike">
                <a:solidFill>
                  <a:srgbClr val="0A1F3D">
                    <a:alpha val="50196"/>
                  </a:srgbClr>
                </a:solidFill>
                <a:latin typeface="Alibaba PuHuiTi 3.0 55 Regular" panose="00020600040101010101" charset="-122"/>
                <a:ea typeface="Alibaba PuHuiTi 3.0 55 Regular" panose="00020600040101010101" charset="-122"/>
                <a:cs typeface="Alibaba PuHuiTi 3.0 55 Regular" panose="00020600040101010101" charset="-122"/>
              </a:rPr>
              <a:t>数据来源：内部评估体系</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3" name="TextBox 3"/>
          <p:cNvSpPr txBox="1"/>
          <p:nvPr/>
        </p:nvSpPr>
        <p:spPr>
          <a:xfrm>
            <a:off x="457086" y="476250"/>
            <a:ext cx="11274781" cy="133350"/>
          </a:xfrm>
          <a:prstGeom prst="rect">
            <a:avLst/>
          </a:prstGeom>
          <a:ln>
            <a:headEnd type="none"/>
            <a:tailEnd type="none"/>
          </a:ln>
        </p:spPr>
        <p:txBody>
          <a:bodyPr vert="horz" wrap="square" lIns="0" tIns="0" rIns="0" bIns="0" rtlCol="0" anchor="t" anchorCtr="0"/>
          <a:lstStyle/>
          <a:p>
            <a:pPr algn="l">
              <a:defRPr/>
            </a:pPr>
            <a:r>
              <a:rPr lang="en-US" sz="900" b="0" i="0" strike="noStrike">
                <a:solidFill>
                  <a:srgbClr val="0A1F3D">
                    <a:alpha val="60000"/>
                  </a:srgbClr>
                </a:solidFill>
                <a:latin typeface="Alibaba PuHuiTi 3.0 55 Regular" panose="00020600040101010101" charset="-122"/>
                <a:ea typeface="Alibaba PuHuiTi 3.0 55 Regular" panose="00020600040101010101" charset="-122"/>
                <a:cs typeface="Alibaba PuHuiTi 3.0 55 Regular" panose="00020600040101010101" charset="-122"/>
              </a:rPr>
              <a:t>Core Competitiveness</a:t>
            </a:r>
            <a:endParaRPr lang="en-US" sz="1100"/>
          </a:p>
        </p:txBody>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技术壁垒：从工具到流程的护城河</a:t>
            </a:r>
            <a:endParaRPr lang="en-US" sz="1100"/>
          </a:p>
        </p:txBody>
      </p:sp>
      <p:sp>
        <p:nvSpPr>
          <p:cNvPr id="5" name="TextBox 5"/>
          <p:cNvSpPr txBox="1"/>
          <p:nvPr/>
        </p:nvSpPr>
        <p:spPr>
          <a:xfrm>
            <a:off x="457086" y="1390650"/>
            <a:ext cx="11731866" cy="456159"/>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通过长期开源深耕与项目实践，团队已形成难以复制的技术壁垒：公开可验证的技术成果与开源影响力、自研AI编辑器与场景模板复用体系、以及项目</a:t>
            </a:r>
            <a:endParaRPr lang="en-US" sz="1100"/>
          </a:p>
          <a:p>
            <a:pPr algn="l"/>
            <a:r>
              <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rPr>
              <a:t>经验沉淀的交付方法论，三者共同构成从工具到流程的完整护城河。</a:t>
            </a:r>
            <a:endParaRPr sz="1200" b="0" i="0" strike="noStrike">
              <a:solidFill>
                <a:srgbClr val="0A1F3D">
                  <a:alpha val="74901"/>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6" name="AutoShape 6"/>
          <p:cNvSpPr/>
          <p:nvPr/>
        </p:nvSpPr>
        <p:spPr>
          <a:xfrm>
            <a:off x="457086" y="2207716"/>
            <a:ext cx="3605799" cy="4193084"/>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2207716"/>
            <a:ext cx="3605799" cy="9525"/>
          </a:xfrm>
          <a:prstGeom prst="line">
            <a:avLst/>
          </a:prstGeom>
          <a:ln w="28575">
            <a:solidFill>
              <a:srgbClr val="5B8CB8">
                <a:alpha val="100000"/>
              </a:srgbClr>
            </a:solidFill>
            <a:prstDash val="solid"/>
            <a:headEnd type="none"/>
            <a:tailEnd type="none"/>
          </a:ln>
        </p:spPr>
      </p:sp>
      <p:sp>
        <p:nvSpPr>
          <p:cNvPr id="8" name="AutoShape 8"/>
          <p:cNvSpPr/>
          <p:nvPr/>
        </p:nvSpPr>
        <p:spPr>
          <a:xfrm>
            <a:off x="669783" y="2560141"/>
            <a:ext cx="228543" cy="228600"/>
          </a:xfrm>
          <a:custGeom>
            <a:avLst/>
            <a:gdLst/>
            <a:ahLst/>
            <a:cxnLst/>
            <a:rect l="l" t="t" r="r" b="b"/>
            <a:pathLst>
              <a:path w="9998" h="10000">
                <a:moveTo>
                  <a:pt x="1722" y="8241"/>
                </a:moveTo>
                <a:cubicBezTo>
                  <a:pt x="1568" y="8152"/>
                  <a:pt x="1404" y="8012"/>
                  <a:pt x="1228" y="7822"/>
                </a:cubicBezTo>
                <a:lnTo>
                  <a:pt x="964" y="7546"/>
                </a:lnTo>
                <a:cubicBezTo>
                  <a:pt x="948" y="7518"/>
                  <a:pt x="945" y="7512"/>
                  <a:pt x="953" y="7526"/>
                </a:cubicBezTo>
                <a:cubicBezTo>
                  <a:pt x="823" y="7382"/>
                  <a:pt x="712" y="7273"/>
                  <a:pt x="620" y="7198"/>
                </a:cubicBezTo>
                <a:cubicBezTo>
                  <a:pt x="528" y="7123"/>
                  <a:pt x="440" y="7072"/>
                  <a:pt x="356" y="7045"/>
                </a:cubicBezTo>
                <a:cubicBezTo>
                  <a:pt x="202" y="6997"/>
                  <a:pt x="91" y="6908"/>
                  <a:pt x="23" y="6779"/>
                </a:cubicBezTo>
                <a:cubicBezTo>
                  <a:pt x="-45" y="6649"/>
                  <a:pt x="-53" y="6518"/>
                  <a:pt x="0" y="6385"/>
                </a:cubicBezTo>
                <a:cubicBezTo>
                  <a:pt x="53" y="6252"/>
                  <a:pt x="152" y="6157"/>
                  <a:pt x="298" y="6099"/>
                </a:cubicBezTo>
                <a:cubicBezTo>
                  <a:pt x="444" y="6041"/>
                  <a:pt x="589" y="6036"/>
                  <a:pt x="735" y="6084"/>
                </a:cubicBezTo>
                <a:cubicBezTo>
                  <a:pt x="949" y="6145"/>
                  <a:pt x="1140" y="6240"/>
                  <a:pt x="1309" y="6370"/>
                </a:cubicBezTo>
                <a:cubicBezTo>
                  <a:pt x="1469" y="6492"/>
                  <a:pt x="1653" y="6666"/>
                  <a:pt x="1860" y="6892"/>
                </a:cubicBezTo>
                <a:cubicBezTo>
                  <a:pt x="1844" y="6878"/>
                  <a:pt x="1844" y="6881"/>
                  <a:pt x="1860" y="6902"/>
                </a:cubicBezTo>
                <a:lnTo>
                  <a:pt x="2101" y="7168"/>
                </a:lnTo>
                <a:cubicBezTo>
                  <a:pt x="2207" y="7276"/>
                  <a:pt x="2291" y="7351"/>
                  <a:pt x="2353" y="7393"/>
                </a:cubicBezTo>
                <a:cubicBezTo>
                  <a:pt x="2483" y="7467"/>
                  <a:pt x="2705" y="7491"/>
                  <a:pt x="3019" y="7464"/>
                </a:cubicBezTo>
                <a:cubicBezTo>
                  <a:pt x="3034" y="7273"/>
                  <a:pt x="3072" y="7086"/>
                  <a:pt x="3134" y="6902"/>
                </a:cubicBezTo>
                <a:cubicBezTo>
                  <a:pt x="2254" y="6711"/>
                  <a:pt x="1595" y="6360"/>
                  <a:pt x="1159" y="5849"/>
                </a:cubicBezTo>
                <a:cubicBezTo>
                  <a:pt x="700" y="5310"/>
                  <a:pt x="471" y="4570"/>
                  <a:pt x="471" y="3630"/>
                </a:cubicBezTo>
                <a:cubicBezTo>
                  <a:pt x="471" y="3002"/>
                  <a:pt x="670" y="2443"/>
                  <a:pt x="1068" y="1953"/>
                </a:cubicBezTo>
                <a:cubicBezTo>
                  <a:pt x="930" y="1435"/>
                  <a:pt x="991" y="889"/>
                  <a:pt x="1251" y="317"/>
                </a:cubicBezTo>
                <a:cubicBezTo>
                  <a:pt x="1312" y="167"/>
                  <a:pt x="1431" y="68"/>
                  <a:pt x="1607" y="20"/>
                </a:cubicBezTo>
                <a:cubicBezTo>
                  <a:pt x="1645" y="13"/>
                  <a:pt x="1683" y="6"/>
                  <a:pt x="1722" y="0"/>
                </a:cubicBezTo>
                <a:cubicBezTo>
                  <a:pt x="1966" y="-34"/>
                  <a:pt x="2246" y="-10"/>
                  <a:pt x="2560" y="72"/>
                </a:cubicBezTo>
                <a:cubicBezTo>
                  <a:pt x="2904" y="167"/>
                  <a:pt x="3279" y="330"/>
                  <a:pt x="3685" y="562"/>
                </a:cubicBezTo>
                <a:cubicBezTo>
                  <a:pt x="4189" y="453"/>
                  <a:pt x="4706" y="399"/>
                  <a:pt x="5234" y="399"/>
                </a:cubicBezTo>
                <a:cubicBezTo>
                  <a:pt x="5762" y="399"/>
                  <a:pt x="6274" y="453"/>
                  <a:pt x="6772" y="562"/>
                </a:cubicBezTo>
                <a:cubicBezTo>
                  <a:pt x="7178" y="330"/>
                  <a:pt x="7553" y="167"/>
                  <a:pt x="7897" y="72"/>
                </a:cubicBezTo>
                <a:cubicBezTo>
                  <a:pt x="8211" y="-10"/>
                  <a:pt x="8490" y="-34"/>
                  <a:pt x="8735" y="0"/>
                </a:cubicBezTo>
                <a:cubicBezTo>
                  <a:pt x="8781" y="6"/>
                  <a:pt x="8823" y="13"/>
                  <a:pt x="8862" y="20"/>
                </a:cubicBezTo>
                <a:cubicBezTo>
                  <a:pt x="9030" y="74"/>
                  <a:pt x="9148" y="173"/>
                  <a:pt x="9217" y="317"/>
                </a:cubicBezTo>
                <a:cubicBezTo>
                  <a:pt x="9469" y="889"/>
                  <a:pt x="9527" y="1435"/>
                  <a:pt x="9390" y="1953"/>
                </a:cubicBezTo>
                <a:cubicBezTo>
                  <a:pt x="9795" y="2437"/>
                  <a:pt x="9998" y="2996"/>
                  <a:pt x="9998" y="3630"/>
                </a:cubicBezTo>
                <a:cubicBezTo>
                  <a:pt x="9998" y="4570"/>
                  <a:pt x="9764" y="5310"/>
                  <a:pt x="9298" y="5849"/>
                </a:cubicBezTo>
                <a:cubicBezTo>
                  <a:pt x="8862" y="6360"/>
                  <a:pt x="8203" y="6711"/>
                  <a:pt x="7323" y="6902"/>
                </a:cubicBezTo>
                <a:cubicBezTo>
                  <a:pt x="7399" y="7120"/>
                  <a:pt x="7438" y="7355"/>
                  <a:pt x="7438" y="7607"/>
                </a:cubicBezTo>
                <a:lnTo>
                  <a:pt x="7427" y="8998"/>
                </a:lnTo>
                <a:cubicBezTo>
                  <a:pt x="7541" y="9018"/>
                  <a:pt x="7639" y="9064"/>
                  <a:pt x="7719" y="9136"/>
                </a:cubicBezTo>
                <a:cubicBezTo>
                  <a:pt x="7799" y="9207"/>
                  <a:pt x="7851" y="9294"/>
                  <a:pt x="7874" y="9397"/>
                </a:cubicBezTo>
                <a:cubicBezTo>
                  <a:pt x="7904" y="9533"/>
                  <a:pt x="7876" y="9660"/>
                  <a:pt x="7788" y="9780"/>
                </a:cubicBezTo>
                <a:cubicBezTo>
                  <a:pt x="7700" y="9899"/>
                  <a:pt x="7575" y="9972"/>
                  <a:pt x="7415" y="10000"/>
                </a:cubicBezTo>
                <a:cubicBezTo>
                  <a:pt x="7208" y="10034"/>
                  <a:pt x="7017" y="10020"/>
                  <a:pt x="6841" y="9959"/>
                </a:cubicBezTo>
                <a:cubicBezTo>
                  <a:pt x="6665" y="9897"/>
                  <a:pt x="6527" y="9800"/>
                  <a:pt x="6428" y="9668"/>
                </a:cubicBezTo>
                <a:cubicBezTo>
                  <a:pt x="6328" y="9534"/>
                  <a:pt x="6279" y="9383"/>
                  <a:pt x="6279" y="9213"/>
                </a:cubicBezTo>
                <a:lnTo>
                  <a:pt x="6290" y="7607"/>
                </a:lnTo>
                <a:cubicBezTo>
                  <a:pt x="6290" y="7437"/>
                  <a:pt x="6267" y="7292"/>
                  <a:pt x="6221" y="7173"/>
                </a:cubicBezTo>
                <a:cubicBezTo>
                  <a:pt x="6175" y="7053"/>
                  <a:pt x="6118" y="6966"/>
                  <a:pt x="6049" y="6912"/>
                </a:cubicBezTo>
                <a:cubicBezTo>
                  <a:pt x="5927" y="6816"/>
                  <a:pt x="5860" y="6700"/>
                  <a:pt x="5848" y="6564"/>
                </a:cubicBezTo>
                <a:cubicBezTo>
                  <a:pt x="5836" y="6428"/>
                  <a:pt x="5879" y="6307"/>
                  <a:pt x="5975" y="6201"/>
                </a:cubicBezTo>
                <a:cubicBezTo>
                  <a:pt x="6070" y="6095"/>
                  <a:pt x="6198" y="6032"/>
                  <a:pt x="6359" y="6012"/>
                </a:cubicBezTo>
                <a:cubicBezTo>
                  <a:pt x="6941" y="5957"/>
                  <a:pt x="7408" y="5848"/>
                  <a:pt x="7760" y="5685"/>
                </a:cubicBezTo>
                <a:cubicBezTo>
                  <a:pt x="8127" y="5507"/>
                  <a:pt x="8400" y="5255"/>
                  <a:pt x="8580" y="4928"/>
                </a:cubicBezTo>
                <a:cubicBezTo>
                  <a:pt x="8760" y="4601"/>
                  <a:pt x="8850" y="4168"/>
                  <a:pt x="8850" y="3630"/>
                </a:cubicBezTo>
                <a:cubicBezTo>
                  <a:pt x="8850" y="3152"/>
                  <a:pt x="8674" y="2743"/>
                  <a:pt x="8322" y="2403"/>
                </a:cubicBezTo>
                <a:cubicBezTo>
                  <a:pt x="8245" y="2335"/>
                  <a:pt x="8197" y="2251"/>
                  <a:pt x="8179" y="2152"/>
                </a:cubicBezTo>
                <a:cubicBezTo>
                  <a:pt x="8159" y="2053"/>
                  <a:pt x="8169" y="1959"/>
                  <a:pt x="8207" y="1871"/>
                </a:cubicBezTo>
                <a:cubicBezTo>
                  <a:pt x="8321" y="1625"/>
                  <a:pt x="8341" y="1349"/>
                  <a:pt x="8265" y="1043"/>
                </a:cubicBezTo>
                <a:cubicBezTo>
                  <a:pt x="7959" y="1125"/>
                  <a:pt x="7603" y="1288"/>
                  <a:pt x="7197" y="1534"/>
                </a:cubicBezTo>
                <a:cubicBezTo>
                  <a:pt x="7051" y="1622"/>
                  <a:pt x="6891" y="1646"/>
                  <a:pt x="6715" y="1605"/>
                </a:cubicBezTo>
                <a:cubicBezTo>
                  <a:pt x="6240" y="1482"/>
                  <a:pt x="5745" y="1421"/>
                  <a:pt x="5229" y="1421"/>
                </a:cubicBezTo>
                <a:cubicBezTo>
                  <a:pt x="4712" y="1421"/>
                  <a:pt x="4216" y="1482"/>
                  <a:pt x="3742" y="1605"/>
                </a:cubicBezTo>
                <a:cubicBezTo>
                  <a:pt x="3574" y="1646"/>
                  <a:pt x="3413" y="1622"/>
                  <a:pt x="3260" y="1534"/>
                </a:cubicBezTo>
                <a:cubicBezTo>
                  <a:pt x="2854" y="1288"/>
                  <a:pt x="2498" y="1128"/>
                  <a:pt x="2192" y="1053"/>
                </a:cubicBezTo>
                <a:cubicBezTo>
                  <a:pt x="2116" y="1353"/>
                  <a:pt x="2135" y="1625"/>
                  <a:pt x="2250" y="1871"/>
                </a:cubicBezTo>
                <a:cubicBezTo>
                  <a:pt x="2288" y="1959"/>
                  <a:pt x="2297" y="2053"/>
                  <a:pt x="2279" y="2152"/>
                </a:cubicBezTo>
                <a:cubicBezTo>
                  <a:pt x="2259" y="2251"/>
                  <a:pt x="2211" y="2335"/>
                  <a:pt x="2135" y="2403"/>
                </a:cubicBezTo>
                <a:cubicBezTo>
                  <a:pt x="1791" y="2743"/>
                  <a:pt x="1619" y="3152"/>
                  <a:pt x="1619" y="3630"/>
                </a:cubicBezTo>
                <a:cubicBezTo>
                  <a:pt x="1619" y="4168"/>
                  <a:pt x="1707" y="4601"/>
                  <a:pt x="1883" y="4928"/>
                </a:cubicBezTo>
                <a:cubicBezTo>
                  <a:pt x="2059" y="5255"/>
                  <a:pt x="2330" y="5507"/>
                  <a:pt x="2698" y="5685"/>
                </a:cubicBezTo>
                <a:cubicBezTo>
                  <a:pt x="3042" y="5848"/>
                  <a:pt x="3508" y="5957"/>
                  <a:pt x="4098" y="6012"/>
                </a:cubicBezTo>
                <a:cubicBezTo>
                  <a:pt x="4258" y="6032"/>
                  <a:pt x="4385" y="6095"/>
                  <a:pt x="4477" y="6201"/>
                </a:cubicBezTo>
                <a:cubicBezTo>
                  <a:pt x="4568" y="6307"/>
                  <a:pt x="4610" y="6428"/>
                  <a:pt x="4603" y="6564"/>
                </a:cubicBezTo>
                <a:cubicBezTo>
                  <a:pt x="4595" y="6700"/>
                  <a:pt x="4530" y="6816"/>
                  <a:pt x="4408" y="6912"/>
                </a:cubicBezTo>
                <a:cubicBezTo>
                  <a:pt x="4346" y="6960"/>
                  <a:pt x="4293" y="7045"/>
                  <a:pt x="4247" y="7168"/>
                </a:cubicBezTo>
                <a:cubicBezTo>
                  <a:pt x="4185" y="7310"/>
                  <a:pt x="4155" y="7457"/>
                  <a:pt x="4155" y="7607"/>
                </a:cubicBezTo>
                <a:lnTo>
                  <a:pt x="4155" y="9213"/>
                </a:lnTo>
                <a:cubicBezTo>
                  <a:pt x="4155" y="9383"/>
                  <a:pt x="4107" y="9534"/>
                  <a:pt x="4012" y="9668"/>
                </a:cubicBezTo>
                <a:cubicBezTo>
                  <a:pt x="3916" y="9800"/>
                  <a:pt x="3782" y="9897"/>
                  <a:pt x="3610" y="9959"/>
                </a:cubicBezTo>
                <a:cubicBezTo>
                  <a:pt x="3438" y="10020"/>
                  <a:pt x="3244" y="10034"/>
                  <a:pt x="3030" y="10000"/>
                </a:cubicBezTo>
                <a:cubicBezTo>
                  <a:pt x="2877" y="9972"/>
                  <a:pt x="2755" y="9901"/>
                  <a:pt x="2663" y="9785"/>
                </a:cubicBezTo>
                <a:cubicBezTo>
                  <a:pt x="2571" y="9669"/>
                  <a:pt x="2540" y="9543"/>
                  <a:pt x="2571" y="9407"/>
                </a:cubicBezTo>
                <a:cubicBezTo>
                  <a:pt x="2586" y="9305"/>
                  <a:pt x="2636" y="9216"/>
                  <a:pt x="2720" y="9141"/>
                </a:cubicBezTo>
                <a:cubicBezTo>
                  <a:pt x="2804" y="9066"/>
                  <a:pt x="2900" y="9018"/>
                  <a:pt x="3007" y="8998"/>
                </a:cubicBezTo>
                <a:lnTo>
                  <a:pt x="3007" y="8487"/>
                </a:lnTo>
                <a:cubicBezTo>
                  <a:pt x="2479" y="8521"/>
                  <a:pt x="2050" y="8439"/>
                  <a:pt x="1722" y="8241"/>
                </a:cubicBezTo>
              </a:path>
            </a:pathLst>
          </a:custGeom>
          <a:solidFill>
            <a:srgbClr val="5B8CB8">
              <a:alpha val="100000"/>
            </a:srgbClr>
          </a:solidFill>
          <a:ln>
            <a:headEnd type="none"/>
            <a:tailEnd type="none"/>
          </a:ln>
        </p:spPr>
      </p:sp>
      <p:sp>
        <p:nvSpPr>
          <p:cNvPr id="9" name="TextBox 9"/>
          <p:cNvSpPr txBox="1"/>
          <p:nvPr/>
        </p:nvSpPr>
        <p:spPr>
          <a:xfrm>
            <a:off x="987228" y="2555378"/>
            <a:ext cx="1523619"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开源影响力壁垒</a:t>
            </a:r>
            <a:endParaRPr lang="en-US" sz="1100"/>
          </a:p>
        </p:txBody>
      </p:sp>
      <p:sp>
        <p:nvSpPr>
          <p:cNvPr id="10" name="TextBox 10"/>
          <p:cNvSpPr txBox="1"/>
          <p:nvPr/>
        </p:nvSpPr>
        <p:spPr>
          <a:xfrm>
            <a:off x="695151" y="3935165"/>
            <a:ext cx="3367734"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拥有公开可验证的技术成果与持续沉淀的开源影</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响力，GitHub Web3D领域具备较强技术资源连接</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能力</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1" name="TextBox 11"/>
          <p:cNvSpPr txBox="1"/>
          <p:nvPr/>
        </p:nvSpPr>
        <p:spPr>
          <a:xfrm>
            <a:off x="695151" y="4816227"/>
            <a:ext cx="3367734"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开源策略构建独特信任机制，客户可直接验证技</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术实力，显著降低合作决策风险</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2" name="AutoShape 12"/>
          <p:cNvSpPr/>
          <p:nvPr/>
        </p:nvSpPr>
        <p:spPr>
          <a:xfrm>
            <a:off x="4291428" y="2207716"/>
            <a:ext cx="3605948" cy="4193084"/>
          </a:xfrm>
          <a:prstGeom prst="rect">
            <a:avLst/>
          </a:prstGeom>
          <a:solidFill>
            <a:srgbClr val="E8EBEF">
              <a:alpha val="100000"/>
            </a:srgbClr>
          </a:solidFill>
          <a:ln w="9525">
            <a:solidFill>
              <a:srgbClr val="C5CDD6">
                <a:alpha val="100000"/>
              </a:srgbClr>
            </a:solidFill>
            <a:prstDash val="solid"/>
            <a:headEnd type="none"/>
            <a:tailEnd type="none"/>
          </a:ln>
        </p:spPr>
      </p:sp>
      <p:sp>
        <p:nvSpPr>
          <p:cNvPr id="13" name="AutoShape 13"/>
          <p:cNvSpPr/>
          <p:nvPr/>
        </p:nvSpPr>
        <p:spPr>
          <a:xfrm>
            <a:off x="4291428" y="2207716"/>
            <a:ext cx="3605948" cy="9525"/>
          </a:xfrm>
          <a:prstGeom prst="line">
            <a:avLst/>
          </a:prstGeom>
          <a:ln w="28575">
            <a:solidFill>
              <a:srgbClr val="5B8CB8">
                <a:alpha val="100000"/>
              </a:srgbClr>
            </a:solidFill>
            <a:prstDash val="solid"/>
            <a:headEnd type="none"/>
            <a:tailEnd type="none"/>
          </a:ln>
        </p:spPr>
      </p:sp>
      <p:sp>
        <p:nvSpPr>
          <p:cNvPr id="14" name="AutoShape 14"/>
          <p:cNvSpPr/>
          <p:nvPr/>
        </p:nvSpPr>
        <p:spPr>
          <a:xfrm>
            <a:off x="4504125" y="2560141"/>
            <a:ext cx="228543" cy="228600"/>
          </a:xfrm>
          <a:custGeom>
            <a:avLst/>
            <a:gdLst/>
            <a:ahLst/>
            <a:cxnLst/>
            <a:rect l="l" t="t" r="r" b="b"/>
            <a:pathLst>
              <a:path w="9998" h="10000">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1111"/>
                </a:moveTo>
                <a:lnTo>
                  <a:pt x="1000" y="1111"/>
                </a:lnTo>
                <a:lnTo>
                  <a:pt x="1000" y="8889"/>
                </a:lnTo>
                <a:lnTo>
                  <a:pt x="8998" y="8889"/>
                </a:lnTo>
                <a:lnTo>
                  <a:pt x="8998" y="1111"/>
                </a:lnTo>
                <a:moveTo>
                  <a:pt x="7229" y="3033"/>
                </a:moveTo>
                <a:lnTo>
                  <a:pt x="8998" y="5000"/>
                </a:lnTo>
                <a:lnTo>
                  <a:pt x="7229" y="6967"/>
                </a:lnTo>
                <a:lnTo>
                  <a:pt x="6529" y="6178"/>
                </a:lnTo>
                <a:lnTo>
                  <a:pt x="7588" y="5000"/>
                </a:lnTo>
                <a:lnTo>
                  <a:pt x="6529" y="3822"/>
                </a:lnTo>
                <a:lnTo>
                  <a:pt x="7229" y="3033"/>
                </a:lnTo>
                <a:moveTo>
                  <a:pt x="3469" y="3822"/>
                </a:moveTo>
                <a:lnTo>
                  <a:pt x="2410" y="5000"/>
                </a:lnTo>
                <a:lnTo>
                  <a:pt x="3469" y="6178"/>
                </a:lnTo>
                <a:lnTo>
                  <a:pt x="2769" y="6967"/>
                </a:lnTo>
                <a:lnTo>
                  <a:pt x="1000" y="5000"/>
                </a:lnTo>
                <a:lnTo>
                  <a:pt x="2769" y="3033"/>
                </a:lnTo>
                <a:lnTo>
                  <a:pt x="3469" y="3822"/>
                </a:lnTo>
                <a:moveTo>
                  <a:pt x="6439" y="2222"/>
                </a:moveTo>
                <a:lnTo>
                  <a:pt x="4619" y="7778"/>
                </a:lnTo>
                <a:lnTo>
                  <a:pt x="3559" y="7778"/>
                </a:lnTo>
                <a:lnTo>
                  <a:pt x="5379" y="2222"/>
                </a:lnTo>
              </a:path>
            </a:pathLst>
          </a:custGeom>
          <a:solidFill>
            <a:srgbClr val="5B8CB8">
              <a:alpha val="100000"/>
            </a:srgbClr>
          </a:solidFill>
          <a:ln>
            <a:headEnd type="none"/>
            <a:tailEnd type="none"/>
          </a:ln>
        </p:spPr>
      </p:sp>
      <p:sp>
        <p:nvSpPr>
          <p:cNvPr id="15" name="TextBox 15"/>
          <p:cNvSpPr txBox="1"/>
          <p:nvPr/>
        </p:nvSpPr>
        <p:spPr>
          <a:xfrm>
            <a:off x="4821570" y="2555378"/>
            <a:ext cx="1523619"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自研工具链壁垒</a:t>
            </a:r>
            <a:endParaRPr lang="en-US" sz="1100"/>
          </a:p>
        </p:txBody>
      </p:sp>
      <p:sp>
        <p:nvSpPr>
          <p:cNvPr id="16" name="TextBox 16"/>
          <p:cNvSpPr txBox="1"/>
          <p:nvPr/>
        </p:nvSpPr>
        <p:spPr>
          <a:xfrm>
            <a:off x="4529493" y="4056609"/>
            <a:ext cx="3367883"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自研编辑器能力与场景模板复用体系，结合AI能</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力显著提升复杂项目搭建效率与二次开发效率</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7" name="TextBox 17"/>
          <p:cNvSpPr txBox="1"/>
          <p:nvPr/>
        </p:nvSpPr>
        <p:spPr>
          <a:xfrm>
            <a:off x="4529493" y="4694784"/>
            <a:ext cx="3367883"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国内首款开源AI三维编辑器形成先发优势，技术</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积累与社区反馈形成正向循环</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18" name="AutoShape 18"/>
          <p:cNvSpPr/>
          <p:nvPr/>
        </p:nvSpPr>
        <p:spPr>
          <a:xfrm>
            <a:off x="8125918" y="2207716"/>
            <a:ext cx="3605948" cy="4193084"/>
          </a:xfrm>
          <a:prstGeom prst="rect">
            <a:avLst/>
          </a:prstGeom>
          <a:solidFill>
            <a:srgbClr val="E8EBEF">
              <a:alpha val="100000"/>
            </a:srgbClr>
          </a:solidFill>
          <a:ln w="9525">
            <a:solidFill>
              <a:srgbClr val="C5CDD6">
                <a:alpha val="100000"/>
              </a:srgbClr>
            </a:solidFill>
            <a:prstDash val="solid"/>
            <a:headEnd type="none"/>
            <a:tailEnd type="none"/>
          </a:ln>
        </p:spPr>
      </p:sp>
      <p:sp>
        <p:nvSpPr>
          <p:cNvPr id="19" name="AutoShape 19"/>
          <p:cNvSpPr/>
          <p:nvPr/>
        </p:nvSpPr>
        <p:spPr>
          <a:xfrm>
            <a:off x="8125918" y="2207716"/>
            <a:ext cx="3605948" cy="9525"/>
          </a:xfrm>
          <a:prstGeom prst="line">
            <a:avLst/>
          </a:prstGeom>
          <a:ln w="28575">
            <a:solidFill>
              <a:srgbClr val="5B8CB8">
                <a:alpha val="100000"/>
              </a:srgbClr>
            </a:solidFill>
            <a:prstDash val="solid"/>
            <a:headEnd type="none"/>
            <a:tailEnd type="none"/>
          </a:ln>
        </p:spPr>
      </p:sp>
      <p:sp>
        <p:nvSpPr>
          <p:cNvPr id="20" name="TextBox 20"/>
          <p:cNvSpPr txBox="1"/>
          <p:nvPr/>
        </p:nvSpPr>
        <p:spPr>
          <a:xfrm>
            <a:off x="8478256" y="2541091"/>
            <a:ext cx="1523619" cy="238125"/>
          </a:xfrm>
          <a:prstGeom prst="rect">
            <a:avLst/>
          </a:prstGeom>
          <a:ln>
            <a:headEnd type="none"/>
            <a:tailEnd type="none"/>
          </a:ln>
        </p:spPr>
        <p:txBody>
          <a:bodyPr vert="horz" wrap="square" lIns="0" tIns="0" rIns="0" bIns="0" rtlCol="0" anchor="t" anchorCtr="0"/>
          <a:lstStyle/>
          <a:p>
            <a:pPr algn="l">
              <a:defRPr/>
            </a:pPr>
            <a:r>
              <a:rPr lang="en-US" sz="1600" b="1" i="0" strike="noStrike">
                <a:solidFill>
                  <a:srgbClr val="0A1F3D">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交付方法论壁垒</a:t>
            </a:r>
            <a:endParaRPr lang="en-US" sz="1100"/>
          </a:p>
        </p:txBody>
      </p:sp>
      <p:sp>
        <p:nvSpPr>
          <p:cNvPr id="21" name="TextBox 21"/>
          <p:cNvSpPr txBox="1"/>
          <p:nvPr/>
        </p:nvSpPr>
        <p:spPr>
          <a:xfrm>
            <a:off x="8363984" y="3920877"/>
            <a:ext cx="3367883" cy="647700"/>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项目经验沉淀下来的交付方法，形成从需求分</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析、场景搭建、数据接入到部署运维的标准化流</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程</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
        <p:nvSpPr>
          <p:cNvPr id="22" name="TextBox 22"/>
          <p:cNvSpPr txBox="1"/>
          <p:nvPr/>
        </p:nvSpPr>
        <p:spPr>
          <a:xfrm>
            <a:off x="8363984" y="4801940"/>
            <a:ext cx="3367883" cy="404812"/>
          </a:xfrm>
          <a:prstGeom prst="rect">
            <a:avLst/>
          </a:prstGeom>
          <a:ln>
            <a:headEnd type="none"/>
            <a:tailEnd type="none"/>
          </a:ln>
        </p:spPr>
        <p:txBody>
          <a:bodyPr vert="horz" wrap="square" lIns="0" tIns="0" rIns="0" bIns="0" rtlCol="0" anchor="t" anchorCtr="0"/>
          <a:lstStyle/>
          <a:p>
            <a:pPr algn="l">
              <a:defRPr/>
            </a:pPr>
            <a:r>
              <a:rPr lang="en-US"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长期维护能力与持续迭代服务经验，确保客户获</a:t>
            </a:r>
            <a:endParaRPr lang="en-US" sz="1100"/>
          </a:p>
          <a:p>
            <a:pPr algn="l"/>
            <a:r>
              <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rPr>
              <a:t>得的是可演进的技术伙伴而非一次性交付</a:t>
            </a:r>
            <a:endParaRPr sz="1100" b="0" i="0" strike="noStrike">
              <a:solidFill>
                <a:srgbClr val="0A1F3D">
                  <a:alpha val="85098"/>
                </a:srgbClr>
              </a:solidFill>
              <a:latin typeface="FZYaYiHei GB18030L2 R" panose="02000500000000000000" charset="-122"/>
              <a:ea typeface="FZYaYiHei GB18030L2 R" panose="02000500000000000000" charset="-122"/>
              <a:cs typeface="FZYaYiHei GB18030L2 R" panose="020005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blipFill rotWithShape="1">
            <a:blip r:embed="rId1">
              <a:alphaModFix amt="100000"/>
              <a:alphaModFix amt="100000"/>
            </a:blip>
            <a:stretch>
              <a:fillRect/>
            </a:stretch>
          </a:blipFill>
          <a:ln>
            <a:headEnd type="none"/>
            <a:tailEnd type="none"/>
          </a:ln>
        </p:spPr>
      </p:sp>
      <p:sp>
        <p:nvSpPr>
          <p:cNvPr id="3" name="AutoShape 3"/>
          <p:cNvSpPr/>
          <p:nvPr/>
        </p:nvSpPr>
        <p:spPr>
          <a:xfrm>
            <a:off x="0" y="0"/>
            <a:ext cx="12188952" cy="6858000"/>
          </a:xfrm>
          <a:prstGeom prst="rect">
            <a:avLst/>
          </a:prstGeom>
          <a:solidFill>
            <a:srgbClr val="0A1F3D">
              <a:alpha val="65098"/>
            </a:srgbClr>
          </a:solidFill>
          <a:ln>
            <a:headEnd type="none"/>
            <a:tailEnd type="none"/>
          </a:ln>
        </p:spPr>
      </p:sp>
      <p:sp>
        <p:nvSpPr>
          <p:cNvPr id="4" name="TextBox 4"/>
          <p:cNvSpPr txBox="1"/>
          <p:nvPr/>
        </p:nvSpPr>
        <p:spPr>
          <a:xfrm>
            <a:off x="956800" y="1938338"/>
            <a:ext cx="10275352" cy="700980"/>
          </a:xfrm>
          <a:prstGeom prst="rect">
            <a:avLst/>
          </a:prstGeom>
          <a:ln>
            <a:headEnd type="none"/>
            <a:tailEnd type="none"/>
          </a:ln>
        </p:spPr>
        <p:txBody>
          <a:bodyPr vert="horz" wrap="square" lIns="0" tIns="0" rIns="0" bIns="0" rtlCol="0" anchor="t" anchorCtr="1"/>
          <a:lstStyle/>
          <a:p>
            <a:pPr algn="ctr">
              <a:defRPr/>
            </a:pPr>
            <a:r>
              <a:rPr lang="en-US" sz="4800" b="1" i="0" strike="noStrike">
                <a:solidFill>
                  <a:srgbClr val="F1F3F5">
                    <a:alpha val="100000"/>
                  </a:srgbClr>
                </a:solidFill>
                <a:latin typeface="Alibaba PuHuiTi 3.0 55 Regular" panose="00020600040101010101" charset="-122"/>
                <a:ea typeface="Alibaba PuHuiTi 3.0 55 Regular" panose="00020600040101010101" charset="-122"/>
                <a:cs typeface="Alibaba PuHuiTi 3.0 55 Regular" panose="00020600040101010101" charset="-122"/>
              </a:rPr>
              <a:t>我们不是做展示，我们是做系统</a:t>
            </a:r>
            <a:endParaRPr lang="en-US" sz="1100"/>
          </a:p>
        </p:txBody>
      </p:sp>
      <p:sp>
        <p:nvSpPr>
          <p:cNvPr id="5" name="TextBox 5"/>
          <p:cNvSpPr txBox="1"/>
          <p:nvPr/>
        </p:nvSpPr>
        <p:spPr>
          <a:xfrm>
            <a:off x="2959080" y="2944118"/>
            <a:ext cx="6270793" cy="365671"/>
          </a:xfrm>
          <a:prstGeom prst="rect">
            <a:avLst/>
          </a:prstGeom>
          <a:ln>
            <a:headEnd type="none"/>
            <a:tailEnd type="none"/>
          </a:ln>
        </p:spPr>
        <p:txBody>
          <a:bodyPr vert="horz" wrap="square" lIns="0" tIns="0" rIns="0" bIns="0" rtlCol="0" anchor="t" anchorCtr="1"/>
          <a:lstStyle/>
          <a:p>
            <a:pPr algn="ctr">
              <a:defRPr/>
            </a:pPr>
            <a:r>
              <a:rPr lang="en-US" sz="1800" b="0" i="0" strike="noStrike">
                <a:solidFill>
                  <a:srgbClr val="F1F3F5">
                    <a:alpha val="90196"/>
                  </a:srgbClr>
                </a:solidFill>
                <a:latin typeface="FZYaYiHei GB18030L2 R" panose="02000500000000000000" charset="-122"/>
                <a:ea typeface="FZYaYiHei GB18030L2 R" panose="02000500000000000000" charset="-122"/>
                <a:cs typeface="FZYaYiHei GB18030L2 R" panose="02000500000000000000" charset="-122"/>
              </a:rPr>
              <a:t>让数字孪生真正落地运营 · 期待与您合作</a:t>
            </a:r>
            <a:endParaRPr lang="en-US" sz="1100"/>
          </a:p>
        </p:txBody>
      </p:sp>
      <p:sp>
        <p:nvSpPr>
          <p:cNvPr id="6" name="TextBox 6"/>
          <p:cNvSpPr txBox="1"/>
          <p:nvPr/>
        </p:nvSpPr>
        <p:spPr>
          <a:xfrm>
            <a:off x="3489816" y="3766989"/>
            <a:ext cx="5209319" cy="257175"/>
          </a:xfrm>
          <a:prstGeom prst="rect">
            <a:avLst/>
          </a:prstGeom>
          <a:ln>
            <a:headEnd type="none"/>
            <a:tailEnd type="none"/>
          </a:ln>
        </p:spPr>
        <p:txBody>
          <a:bodyPr vert="horz" wrap="square" lIns="0" tIns="0" rIns="0" bIns="0" rtlCol="0" anchor="t" anchorCtr="1"/>
          <a:lstStyle/>
          <a:p>
            <a:pPr algn="ctr">
              <a:defRPr/>
            </a:pPr>
            <a:r>
              <a:rPr lang="en-US" sz="1300" b="0" i="0" strike="noStrike">
                <a:solidFill>
                  <a:srgbClr val="F1F3F5">
                    <a:alpha val="85098"/>
                  </a:srgbClr>
                </a:solidFill>
                <a:latin typeface="FZYaYiHei GB18030L2 R" panose="02000500000000000000" charset="-122"/>
                <a:ea typeface="FZYaYiHei GB18030L2 R" panose="02000500000000000000" charset="-122"/>
                <a:cs typeface="FZYaYiHei GB18030L2 R" panose="02000500000000000000" charset="-122"/>
              </a:rPr>
              <a:t>北京优悦幻光科技有限公司</a:t>
            </a:r>
            <a:endParaRPr lang="en-US" sz="1100"/>
          </a:p>
        </p:txBody>
      </p:sp>
      <p:sp>
        <p:nvSpPr>
          <p:cNvPr id="7" name="TextBox 7"/>
          <p:cNvSpPr txBox="1"/>
          <p:nvPr/>
        </p:nvSpPr>
        <p:spPr>
          <a:xfrm>
            <a:off x="3647535" y="4138464"/>
            <a:ext cx="4893882" cy="228600"/>
          </a:xfrm>
          <a:prstGeom prst="rect">
            <a:avLst/>
          </a:prstGeom>
          <a:ln>
            <a:headEnd type="none"/>
            <a:tailEnd type="none"/>
          </a:ln>
        </p:spPr>
        <p:txBody>
          <a:bodyPr vert="horz" wrap="none" lIns="0" tIns="0" rIns="0" bIns="0" rtlCol="0" anchor="t" anchorCtr="1"/>
          <a:lstStyle/>
          <a:p>
            <a:pPr algn="ctr">
              <a:defRPr/>
            </a:pPr>
            <a:r>
              <a:rPr lang="en-US" sz="1200" b="0" i="0" strike="noStrike">
                <a:solidFill>
                  <a:srgbClr val="F1F3F5">
                    <a:alpha val="70196"/>
                  </a:srgbClr>
                </a:solidFill>
                <a:latin typeface="Inter" panose="02000503000000020004"/>
                <a:ea typeface="Inter" panose="02000503000000020004"/>
                <a:cs typeface="Inter" panose="02000503000000020004"/>
              </a:rPr>
              <a:t>www.ciyuan3d.com</a:t>
            </a:r>
            <a:endParaRPr lang="en-US" sz="1100"/>
          </a:p>
        </p:txBody>
      </p:sp>
      <p:sp>
        <p:nvSpPr>
          <p:cNvPr id="8" name="AutoShape 8"/>
          <p:cNvSpPr/>
          <p:nvPr/>
        </p:nvSpPr>
        <p:spPr>
          <a:xfrm>
            <a:off x="4831538" y="4557564"/>
            <a:ext cx="2525725" cy="9525"/>
          </a:xfrm>
          <a:prstGeom prst="line">
            <a:avLst/>
          </a:prstGeom>
          <a:ln w="9525">
            <a:solidFill>
              <a:srgbClr val="F1F3F5">
                <a:alpha val="12156"/>
              </a:srgbClr>
            </a:solidFill>
            <a:prstDash val="solid"/>
            <a:headEnd type="none"/>
            <a:tailEnd type="none"/>
          </a:ln>
        </p:spPr>
      </p:sp>
      <p:sp>
        <p:nvSpPr>
          <p:cNvPr id="9" name="TextBox 9"/>
          <p:cNvSpPr txBox="1"/>
          <p:nvPr/>
        </p:nvSpPr>
        <p:spPr>
          <a:xfrm>
            <a:off x="3372569" y="4557564"/>
            <a:ext cx="5443813" cy="361950"/>
          </a:xfrm>
          <a:prstGeom prst="rect">
            <a:avLst/>
          </a:prstGeom>
          <a:ln>
            <a:headEnd type="none"/>
            <a:tailEnd type="none"/>
          </a:ln>
        </p:spPr>
        <p:txBody>
          <a:bodyPr vert="horz" wrap="square" lIns="0" tIns="0" rIns="0" bIns="0" rtlCol="0" anchor="t" anchorCtr="1"/>
          <a:lstStyle/>
          <a:p>
            <a:pPr algn="ctr">
              <a:defRPr/>
            </a:pPr>
            <a:r>
              <a:rPr lang="en-US" sz="1000" b="0" i="0" strike="noStrike">
                <a:solidFill>
                  <a:srgbClr val="F1F3F5">
                    <a:alpha val="60000"/>
                  </a:srgbClr>
                </a:solidFill>
                <a:latin typeface="Alibaba PuHuiTi 3.0 55 Regular" panose="00020600040101010101" charset="-122"/>
                <a:ea typeface="Alibaba PuHuiTi 3.0 55 Regular" panose="00020600040101010101" charset="-122"/>
                <a:cs typeface="Alibaba PuHuiTi 3.0 55 Regular" panose="00020600040101010101" charset="-122"/>
              </a:rPr>
              <a:t>国内首款开源AI三维可视化数字孪生编辑器</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2294</Words>
  <Application>WPS 演示</Application>
  <PresentationFormat>On-screen Show (4:3)</PresentationFormat>
  <Paragraphs>200</Paragraphs>
  <Slides>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vt:i4>
      </vt:variant>
    </vt:vector>
  </HeadingPairs>
  <TitlesOfParts>
    <vt:vector size="21" baseType="lpstr">
      <vt:lpstr>Arial</vt:lpstr>
      <vt:lpstr>宋体</vt:lpstr>
      <vt:lpstr>Wingdings</vt:lpstr>
      <vt:lpstr>Alibaba PuHuiTi 3.0 55 Regular</vt:lpstr>
      <vt:lpstr>FZYaYiHei GB18030L2 R</vt:lpstr>
      <vt:lpstr>微软雅黑</vt:lpstr>
      <vt:lpstr>Inter, sans-serif</vt:lpstr>
      <vt:lpstr>Segoe Print</vt:lpstr>
      <vt:lpstr>"FZYaYiHei GB18030L2 R", sans-serif</vt:lpstr>
      <vt:lpstr>FZYaYiHei GB18030L2 R, sans-serif</vt:lpstr>
      <vt:lpstr>Inter</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''光''~</cp:lastModifiedBy>
  <cp:revision>2</cp:revision>
  <dcterms:created xsi:type="dcterms:W3CDTF">2006-08-16T00:00:00Z</dcterms:created>
  <dcterms:modified xsi:type="dcterms:W3CDTF">2026-06-15T04:22:46Z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EF0544FC8DB94895B525CE445E1066B6_12</vt:lpwstr>
  </property>
  <property fmtid="{D5CDD505-2E9C-101B-9397-08002B2CF9AE}" pid="3" name="KSOProductBuildVer">
    <vt:lpwstr>2052-12.1.0.26895</vt:lpwstr>
  </property>
</Properties>
</file>